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ff4ba10-f395-683a-4944-9e657476798d}">
          <p14:sldIdLst>
            <p14:sldId id="256"/>
          </p14:sldIdLst>
        </p14:section>
        <p14:section name="팀 운영" id="{33d2c4e6-94f5-2af0-65bf-7c789576b332}">
          <p14:sldIdLst>
            <p14:sldId id="257"/>
            <p14:sldId id="258"/>
            <p14:sldId id="259"/>
            <p14:sldId id="260"/>
            <p14:sldId id="261"/>
            <p14:sldId id="262"/>
          </p14:sldIdLst>
        </p14:section>
        <p14:section name="청도 데이터" id="{fb206c7a-6cb7-6e16-8ede-b18e18777668}">
          <p14:sldIdLst>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아이디어" id="{f0770571-fdbf-c71f-d20b-a119079c0eb8}">
          <p14:sldIdLst>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부록" id="{477eff89-ad7e-e577-1d14-c5ccf275658f}">
          <p14:sldIdLst>
            <p14:sldId id="299"/>
            <p14:sldId id="300"/>
            <p14:sldId id="301"/>
            <p14:sldId id="302"/>
            <p14:sldId id="303"/>
            <p14:sldId id="304"/>
          </p14:sldIdLst>
        </p14:section>
        <p14:section name="마무리" id="{b23ca73a-2513-b831-eed3-1fe4bc01ce0b}">
          <p14:sldIdLst>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가격</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10월 3일</c:v>
                  </c:pt>
                  <c:pt idx="1">
                    <c:v>10월 12일</c:v>
                  </c:pt>
                </c:lvl>
              </c:multiLvlStrCache>
            </c:multiLvlStrRef>
          </c:cat>
          <c:val>
            <c:numRef>
              <c:f>Sheet1!$B$2:$B$3</c:f>
              <c:numCache>
                <c:formatCode>General</c:formatCode>
                <c:ptCount val="2"/>
                <c:pt idx="0">
                  <c:v>16563</c:v>
                </c:pt>
                <c:pt idx="1">
                  <c:v>12849</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900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만료 전</c:v>
                </c:pt>
              </c:strCache>
            </c:strRef>
          </c:tx>
          <c:spPr>
            <a:solidFill>
              <a:srgbClr val="B5BAC2"/>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Sheet1!$B$2:$B$3</c:f>
              <c:numCache>
                <c:formatCode>General</c:formatCode>
                <c:ptCount val="2"/>
                <c:pt idx="0">
                  <c:v>14</c:v>
                </c:pt>
                <c:pt idx="1">
                  <c:v>5</c:v>
                </c:pt>
              </c:numCache>
            </c:numRef>
          </c:val>
        </c:ser>
        <c:ser>
          <c:idx val="1"/>
          <c:order val="1"/>
          <c:tx>
            <c:strRef>
              <c:f>Sheet1!$C$1</c:f>
              <c:strCache>
                <c:ptCount val="1"/>
                <c:pt idx="0">
                  <c:v>2026.4 이후</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Sheet1!$C$2:$C$3</c:f>
              <c:numCache>
                <c:formatCode>General</c:formatCode>
                <c:ptCount val="2"/>
                <c:pt idx="0">
                  <c:v>8</c:v>
                </c:pt>
                <c:pt idx="1">
                  <c:v>2</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legend>
      <c:legendPos val="t"/>
      <c:overlay val="0"/>
      <c:txPr>
        <a:bodyPr/>
        <a:lstStyle/>
        <a:p>
          <a:pPr>
            <a:defRPr sz="1000">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반시는 출하가 몰리면서 9일 만에 가격이 22% 떨어졌고, 작은 감 비중도 평년보다 높습니다. 그래서 군이 작은 감 500톤을 사들여 저장하고 있습니다. 출하 시기를 나눌 저장 공간이 곧 가격이라는 뜻입니다. 일손 부족도 계속됩니다.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생활 기반입니다. 여름마다 고지대 단수가 반복되고, 전국적으로 농촌 마을 네 곳 중 세 곳은 마을 안에 식료품점이 없습니다. 청도의 소멸위험지수는 0.1 안팎으로 고위험이지만, 다녀가는 생활인구는 주민의 7.8배로 경북 1위입니다.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4월 공중보건의 의사가 5명에서 2명으로 줄었고 충원 계획도 없습니다. 의사 한 명이 보건지소 네다섯 곳을 돌고, 네 개 면에는 동네 의원이 없습니다. 의사가 오지 못하면 어르신이 움직여야 하는데, 농촌 교통사고 사망률은 도시의 두 배이고 청도는 사망자의 60% 이상이 어르신입니다. 효도택시가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대상작이 카센터의 남는 전기를 썼다면, 우리는 농가 저온저장고의 비는 달을 씁니다. 청도는 감, 복숭아, 미나리, 딸기의 수확 시기가 서로 달라서 한 작물 저장고는 1년 중 몇 달씩 비어 있습니다. 앱은 비는 저장고와 저장이 필요한 농가를 이어 주고, 주인은 임대료를 받습니다. 청도 저장고 수는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외국인 계절근로자는 3년 만에 84명에서 450명으로 늘었습니다. 군은 80명 규모 기숙사를 새로 지을 계획이지만 나머지 370명의 숙소는 여전히 농가가 마련해야 합니다. 반면 바로 쓸 수 있는 1등급 빈집이 151호 있습니다. 새로 짓기 전에 있는 집부터 쓰자는 것이고, 앱은 빈집과 농가, 근로자를 짝지어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2는 반나절 청도입니다. 청도에는 하루 1만 2천 명이 오지만 오후 서너 시면 떠납니다. 반대로 감 농가 5천5백 곳은 수확철 일손이 모자랍니다. AI가 이 둘을 짝지어 반나절 감 따기로 연결하고, 보상으로 와인터널에 내 감와인을 맡겨 1년 뒤 다시 오게 만듭니다. 지난 대상작처럼 놀고 있는 자원과 부족한 것을 잇는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체험 프로그램이 아니라 빈자리를 채우는 엔진입니다. 평일에 비는 농가 일손, 터널 칸, 캠핑장, 빈집, 택시 좌석을 실시간으로 모아서 방문객 일정에 맞게 AI가 묶어 줍니다. 항공사가 빈 좌석을 채우는 방식과 같고, 효도택시는 이 엔진의 이동 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3.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환경·생활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5-2 · 농업 위기] </a:t>
            </a:r>
            <a:pPr algn="l" indent="0" marL="0">
              <a:buNone/>
            </a:pPr>
            <a:r>
              <a:rPr lang="en-US" sz="2400" b="1" dirty="0">
                <a:solidFill>
                  <a:srgbClr val="222222"/>
                </a:solidFill>
              </a:rPr>
              <a:t>반시 값 9일 만에 22% 하락, 군이 작은 감 500톤 사들여 저장</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출하가 한꺼번에 몰리면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값이 떨어짐</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가락시장 떫은감 5kg 16,563원 → 12,849원(2026.10.3~12, -22.4%), 출하량은 18%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작은 감(소과) 비중 45~50%로 평년(35~40%)보다 높음 → 군이 소과 500톤을 사들여 저장(11/6까지)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일손은 여전히 부족: 농번기 지원 연인원 3만 명, 하반기 계절근로자 79농가 316명 추가 입국</a:t>
            </a:r>
            <a:endParaRPr lang="en-US" sz="1250" dirty="0"/>
          </a:p>
        </p:txBody>
      </p:sp>
      <p:sp>
        <p:nvSpPr>
          <p:cNvPr id="5" name="panel bar 떫은감 5kg 가락시장 가격 (원)"/>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떫은감 5kg 가락시장 가격 (원)</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위기 지표"/>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위기 지표</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 아주경제 2026.10.29, 경북매일 2025.4.28, 매일신문 2026.10.6, 경북매일 2025.12.3</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017520"/>
                <a:gridCol w="1280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 가격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-22.4% (9일 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작은 감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45~50% (평년 35~40%)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소과 수매·저장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500t · 20kg 1만3,500원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연인원 3만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2025.5~7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하반기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79농가 316명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농가 65세+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59.2% (농가 10년 -11.8%)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9-2 · 생활·인구] </a:t>
            </a:r>
            <a:pPr algn="l" indent="0" marL="0">
              <a:buNone/>
            </a:pPr>
            <a:r>
              <a:rPr lang="en-US" sz="2400" b="1" dirty="0">
                <a:solidFill>
                  <a:srgbClr val="222222"/>
                </a:solidFill>
              </a:rPr>
              <a:t>여름마다 단수, 소멸위험지수 0.1 — 생활 기반이 흔들림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물·장보기·사람이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모두 모자람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 여름 풍각·각남 고지대 약 2,400가구 단수, 2026년 8월 각북 전체·풍각·이서 일부 약 8시간 계획 단수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[전국] 농촌 행정리 73.5%가 마을 안에 식료품점이 없음 → 장보기도 읍까지 나가야 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소멸위험지수 0.097~0.11(고위험), 합계출산율 0.87, 인구 10여 년 전 약 4.7만 → 약 4만</a:t>
            </a:r>
            <a:endParaRPr lang="en-US" sz="1250" dirty="0"/>
          </a:p>
        </p:txBody>
      </p:sp>
      <p:sp>
        <p:nvSpPr>
          <p:cNvPr id="5" name="panel bar 생활 기반"/>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생활 기반</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YTN 2026.8.2, 연합뉴스 2026.7.31, 뉴시스 2025.1.1(2020 농림어업총조사)</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920240"/>
                <a:gridCol w="24688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고지대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2,400가구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계획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3개 면 · 약 8시간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2026.8.2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정수장 용량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운문정수장 하루 최대 2만1천t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 식료품점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행정리의 73.5%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인구 소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인구 소멸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이코노미스트 2025.7.14, 메트로신문 2025.9.2, 에너지경제 2025.9.17, 국민일보 2025.9.1</a:t>
            </a:r>
            <a:endParaRPr lang="en-US" sz="75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소멸위험지수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0.097~0.11 (고위험)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합계출산율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0.87명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4.7만 → 약 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10여 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34만 (주민등록 7.8배, 경북 1위)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1분기 254만 명 (+6.4%)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10-2 · 의료 인력·안전] </a:t>
            </a:r>
            <a:pPr algn="l" indent="0" marL="0">
              <a:buNone/>
            </a:pPr>
            <a:r>
              <a:rPr lang="en-US" sz="2400" b="1" dirty="0">
                <a:solidFill>
                  <a:srgbClr val="222222"/>
                </a:solidFill>
              </a:rPr>
              <a:t>공중보건의 의사 5명 → 2명, 올해 충원 0명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의사는 줄고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어르신이 움직여야 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공중보건의 14명 → 8명, 그중 의사(의과) 5명 → 2명(2026.4 복무 만료), 올해 충원 계획 없음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의사 1명이 보건지소 4~5곳을 돌아가며 진료 · 각남·각북·운문·매전 4개 면엔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 농촌 교통사고 사망률은 도시의 약 2배(10만 명당 19.4 vs 10.2), 청도는 사망자의 60% 이상이 65세 이상</a:t>
            </a:r>
            <a:endParaRPr lang="en-US" sz="1250" dirty="0"/>
          </a:p>
        </p:txBody>
      </p:sp>
      <p:sp>
        <p:nvSpPr>
          <p:cNvPr id="5" name="panel bar 청도 공중보건의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공중보건의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진료 공백과 교통 안전"/>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진료 공백과 교통 안전</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 경북매일 2026.7.20, 동방일보 2026.8.13, 매일신문 2024.10.7</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20040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의사 1명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보건지소 4~5곳 순회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동네 의원 없는 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(각남·각북·운문·매전)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소아과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보건소 주 2회 · 보건지소 8곳 주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분만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외래 산부인과만 (분만실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교통사고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농촌 19.4 vs 도시 10.2 (10만 명당)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 사망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60% 이상 (청도 포함 8개 시군)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1·2   3. 가안 1 · 청도효도택시   4. 가안 2 · 반나절 청도</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3-1 · 민간 자원] </a:t>
            </a:r>
            <a:pPr algn="l" indent="0" marL="0">
              <a:buNone/>
            </a:pPr>
            <a:r>
              <a:rPr lang="en-US" sz="2400" b="1" dirty="0">
                <a:solidFill>
                  <a:srgbClr val="222222"/>
                </a:solidFill>
              </a:rPr>
              <a:t>농가 저온저장고 — 작물마다 비는 달이 다르다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남의 저장고가 비는 달에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내 작물을 넣는다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저장고가 없으면 수확 즉시 한꺼번에 출하 → 출하가 몰려 값이 떨어짐 (지자체들이 저장고 보조를 하는 이유)</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청도는 미나리·딸기·복숭아·감의 수확 시기가 엇갈림 → 한 작물 저장고는 1년 중 몇 달씩 빔</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앱: 저장고 주인은 빈 기간·온도 등록, 농가는 작물·물량 입력 → AI가 맞는 저장고·기간 연결, 주인은 임대료</a:t>
            </a:r>
            <a:endParaRPr lang="en-US" sz="1250" dirty="0"/>
          </a:p>
        </p:txBody>
      </p:sp>
      <p:sp>
        <p:nvSpPr>
          <p:cNvPr id="5" name="panel bar 청도 주요 작물 — 언제 저장고가 필요한가"/>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주요 작물 — 언제 저장고가 필요한가</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2026.8.26(재배 규모) · 출하 시기는 일반적 시기, 청도 농가 확인 필요</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234440"/>
                <a:gridCol w="2743200"/>
                <a:gridCol w="2331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작물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 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 출하·저장 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감(반시)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5,589농가 · 28,143t · 1,032억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9~1월 (홍시·저장)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4,781농가 · 12,327t · 550억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6~9월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딸기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180여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12~5월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 빈 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감 저장고는 봄·여름이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복숭아 저장고는 가을·겨울이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근거와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근거와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예산군 보도(뉴스서울), 산청군 보도(메트로신문 2024.2.7), 한국농촌경제연구원 떫은감 관측 2022.10</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저장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보조 목적 = 출하 집중에 따른 가격 하락 방지 (예산군)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보급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소형 저온저장고 보조 50%·최대 500만 원(산청군 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가격 변동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반시 산지가격 전년 대비 +29.2%(2022.9) → 시기 조절 가치 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농가 저온저장고 수·보조 실적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작물 간 온도 차(감 0℃ 안팎 / 채소 다름), 냄새 섞임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3-2 · 민간 자원] </a:t>
            </a:r>
            <a:pPr algn="l" indent="0" marL="0">
              <a:buNone/>
            </a:pPr>
            <a:r>
              <a:rPr lang="en-US" sz="2400" b="1" dirty="0">
                <a:solidFill>
                  <a:srgbClr val="222222"/>
                </a:solidFill>
              </a:rPr>
              <a:t>빈집 × 계절근로자 숙소 — 짓기 전에 있는 집부터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근로자는 5배로 느는데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기숙사는 80명분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84명(2023) → 450명(2026), 숙소는 농가가 각자 마련하는 구조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군은 화양읍 삼신리에 약 80명 기숙사 신축 계획 → 나머지 약 370명은 여전히 농가 몫</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바로 쓸 수 있는 1등급 빈집 151호 → 앱이 빈집·농가·근로자를 거리·인원으로 짝짓고, 집주인은 임대료 + 집 관리</a:t>
            </a:r>
            <a:endParaRPr lang="en-US" sz="1250" dirty="0"/>
          </a:p>
        </p:txBody>
      </p:sp>
      <p:sp>
        <p:nvSpPr>
          <p:cNvPr id="5" name="panel bar 숫자로 보는 숙소 공백"/>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숫자로 보는 숙소 공백</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2026.10.7(근로자), 경북매일 2025.4.21(기숙사), 아주경제 2024.11.20·공공데이터포털(빈집)</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17320"/>
                <a:gridCol w="278892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84명(19농가) → 450명(127농가)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2023→2026, 5.4배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기숙사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80명 · 28실 · 4층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국비 12억, 신축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남는 수요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370명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450 − 80, 농가가 마련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502호 (1등급 151 · 2등급 321)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 바로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다른 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문경 기숙사 27실 · 58명 신축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다들 '짓는'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왜 빈집인가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왜 빈집인가 /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비즈한국 2021.2.25(고용노동부 실태조사 3,850명), 경북매일 2026.4.22(문경)</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현실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농·어업 외국인 근로자 69.6%가 가설건축물(컨테이너·패널·비닐하우스) 거주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규제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2021년부터 불법 가설건축물 숙소 제공 시 고용허가 불허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장점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일반주택 = 기준 충족 쉬움, 새로 안 지음, 빈집 관리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1등급 빈집 중 임대 의향 있는 집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계절근로 숙소 현행 기준(2021 이후 변경)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반나절 청도 (가안 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일손 요청 · AI 짝짓기 · 예약·합승 · 보상 QR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정리 · 방문객-농가 매칭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 기상청, 캠핑장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반나절 청도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오후 3시에 떠나는 관광객의 반나절 × 일손 모자란 감 농가</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청도의 빈자리, AI가 채웁니다 · 주제 '청도에서 이게 되네?' 맞춤</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오후 3시에 떠나는 관광객의 반나절 × 일손 모자란 감 농가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오는데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시간·돈이 남지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문제: 하루 1.25만 명이 오지만 오후 2~3시가 정점, 관광주민증 혜택 이용 1.2% → 청도에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동시에 감 농가 5,589곳은 수확철 일손을 외국인 계절근로자 450명에 의존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서비스: AI가 오늘 일손이 필요한 농가와 일정이 비는 방문객을 짝지음 → 반나절 감 따기 → 보상으로 터널 '내 칸' 감와인 + 하룻밤 숙박 → 1년 뒤 재방문</a:t>
            </a:r>
            <a:endParaRPr lang="en-US" sz="1250" dirty="0"/>
          </a:p>
        </p:txBody>
      </p:sp>
      <p:sp>
        <p:nvSpPr>
          <p:cNvPr id="5" name="panel bar 지난 대상작과 같은 공식"/>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지난 대상작과 같은 공식</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DEPS·2024 나누리 팀 회고, 청도 데이터 2·3·5(부록 3·3-2 출처)</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188720"/>
                <a:gridCol w="2377440"/>
                <a:gridCol w="21945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대상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2026 우리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오후 3시에 떠나는 방문객의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수확철 감 농가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9" name="Text 6"/>
          <p:cNvSpPr txBox="1"/>
          <p:nvPr/>
        </p:nvSpPr>
        <p:spPr>
          <a:xfrm>
            <a:off x="457200" y="5440680"/>
            <a:ext cx="5760720" cy="411480"/>
          </a:xfrm>
          <a:prstGeom prst="rect">
            <a:avLst/>
          </a:prstGeom>
          <a:noFill/>
          <a:ln/>
        </p:spPr>
        <p:txBody>
          <a:bodyPr wrap="square" lIns="0" tIns="0" rIns="0" bIns="0" rtlCol="0" anchor="ctr"/>
          <a:lstStyle/>
          <a:p>
            <a:pPr indent="0" marL="0">
              <a:buNone/>
            </a:pPr>
            <a:r>
              <a:rPr lang="en-US" sz="1050" b="1" dirty="0">
                <a:solidFill>
                  <a:srgbClr val="00358F"/>
                </a:solidFill>
                <a:latin typeface="Pretendard" pitchFamily="34" charset="0"/>
                <a:ea typeface="Pretendard" pitchFamily="34" charset="-122"/>
                <a:cs typeface="Pretendard" pitchFamily="34" charset="-120"/>
              </a:rPr>
              <a:t>차별점  </a:t>
            </a:r>
            <a:pPr indent="0" marL="0">
              <a:buNone/>
            </a:pPr>
            <a:r>
              <a:rPr lang="en-US" sz="1050" dirty="0">
                <a:solidFill>
                  <a:srgbClr val="222222"/>
                </a:solidFill>
                <a:latin typeface="Pretendard" pitchFamily="34" charset="0"/>
                <a:ea typeface="Pretendard" pitchFamily="34" charset="-122"/>
                <a:cs typeface="Pretendard" pitchFamily="34" charset="-120"/>
              </a:rPr>
              <a:t>나누리는 '농산물'을 나눔, 우리는 '사람의 남는 시간'을 일손·체류로 바꿈</a:t>
            </a:r>
            <a:endParaRPr lang="en-US" sz="1050" dirty="0"/>
          </a:p>
        </p:txBody>
      </p:sp>
      <p:sp>
        <p:nvSpPr>
          <p:cNvPr id="10" name="panel bar 근거 숫자"/>
          <p:cNvSpPr/>
          <p:nvPr/>
        </p:nvSpPr>
        <p:spPr>
          <a:xfrm>
            <a:off x="6519672" y="2697480"/>
            <a:ext cx="5212080" cy="310896"/>
          </a:xfrm>
          <a:prstGeom prst="rect">
            <a:avLst/>
          </a:prstGeom>
          <a:solidFill>
            <a:srgbClr val="EEF1F6"/>
          </a:solidFill>
          <a:ln w="12700">
            <a:solidFill>
              <a:srgbClr val="EEF1F6"/>
            </a:solidFill>
            <a:prstDash val="solid"/>
          </a:ln>
        </p:spPr>
      </p:sp>
      <p:sp>
        <p:nvSpPr>
          <p:cNvPr id="11" name="Text 8"/>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 숫자</a:t>
            </a:r>
            <a:endParaRPr lang="en-US" sz="1150" dirty="0"/>
          </a:p>
        </p:txBody>
      </p:sp>
      <p:sp>
        <p:nvSpPr>
          <p:cNvPr id="12" name="Text 9"/>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위키트리 2024.12.26, 경북매일 2026.5.26, 아주경제 2026.10.1, 매일신문 2026.10.8, 콜뉴스24 2026.9.4, 한국관광공사</a:t>
            </a:r>
            <a:endParaRPr lang="en-US" sz="75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645920"/>
                <a:gridCol w="3566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9.9만 건 발급, 혜택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5,589곳, 조수입 1,032억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계절근로자 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평일 숙박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오토캠핑장 43면, 활용 가능 빈집 151호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빈자리 엔진] </a:t>
            </a:r>
            <a:pPr algn="l" indent="0" marL="0">
              <a:buNone/>
            </a:pPr>
            <a:r>
              <a:rPr lang="en-US" sz="2400" b="1" dirty="0">
                <a:solidFill>
                  <a:srgbClr val="222222"/>
                </a:solidFill>
              </a:rPr>
              <a:t>체험 프로그램이 아니라 '청도의 빈자리, AI가 채웁니다'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자리(일손 요청·터널 칸·캠핑·빈집·택시 좌석)를 실시간으로 모아, 방문객 일정에 맞게 AI가 묶어 팖</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 후 둘, 차 없음" 한마디 → 날짜·인원·조건으로 정리 → 빈자리 조회 → 1박 코스와 예약까지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효도택시는 이 엔진의 '이동' 칸 — 주제가 바뀌어도 빈자리 종류만 바꿔 끼우면 됨</a:t>
            </a:r>
            <a:endParaRPr lang="en-US" sz="1250" dirty="0"/>
          </a:p>
        </p:txBody>
      </p:sp>
      <p:sp>
        <p:nvSpPr>
          <p:cNvPr id="5" name="panel bar 엔진이 채우는 빈자리"/>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 데이터 3·4·5(부록 3·3-2 출처), 한국관광공사(오토캠핑장)</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1645920"/>
                <a:gridCol w="2651760"/>
                <a:gridCol w="237744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 종류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얼마나 비나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엔진에서의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농가 일손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 외국인 450명 의존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간판 — 방문객 반나절과 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보상·재방문 (1년 뒤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오토캠핑장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43면, 평일 이용률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활용 가능 151호 (제안)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 대체 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35명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이동 — 효도택시 합승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주제가 바뀌면 빈자리만 교체"/>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주제가 바뀌면 빈자리만 교체</a:t>
            </a:r>
            <a:endParaRPr lang="en-US" sz="115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371600"/>
                <a:gridCol w="29260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당일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간판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관광·체류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칸 · 캠핑 ·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농업·일손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일손 요청 (지금 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좌석 → 가안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돌봄·복지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 통합돌봄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흐름·화면] </a:t>
            </a:r>
            <a:pPr algn="l" indent="0" marL="0">
              <a:buNone/>
            </a:pPr>
            <a:r>
              <a:rPr lang="en-US" sz="2400" b="1" dirty="0">
                <a:solidFill>
                  <a:srgbClr val="222222"/>
                </a:solidFill>
              </a:rPr>
              <a:t>농가는 말로 요청, 방문객은 한 번에 예약 — 화면 5개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농가 · 방문객 · 운영자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세 사람이 쓰는 웹</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농가 어르신은 사투리로 "내일 오전 감 따는 데 세 명"만 말하면 AI가 요청서로 정리(효도택시 해석 엔진)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방문객은 일정만 말하면 AI가 맞는 농가·이동·보상·숙박을 한 코스로 묶어 제안</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운영자(군·농협)는 연결 건수·일손 시간·평일 채움률·재방문 예약을 한 화면에서 확인</a:t>
            </a:r>
            <a:endParaRPr lang="en-US" sz="1250" dirty="0"/>
          </a:p>
        </p:txBody>
      </p:sp>
      <p:sp>
        <p:nvSpPr>
          <p:cNvPr id="5" name="panel bar 서비스 흐름"/>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서비스 흐름</a:t>
            </a:r>
            <a:endParaRPr lang="en-US" sz="11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914400"/>
                <a:gridCol w="3474720"/>
                <a:gridCol w="13716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①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일손 요청 → AI가 날짜·시간·인원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짝짓기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AI가 일정 비는 방문객과 농가를 매칭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반나절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차 없는 사람끼리 관광택시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 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④ 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한 병을 터널 '내 칸'에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 빈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⑤ 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캠핑장·빈집 숙소 예약(비 오면 자동 대체)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캠핑 43면·빈집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⑥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1년 뒤 '와인 찾으러 오세요'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화면 5개 (휴대폰 웹)"/>
          <p:cNvSpPr/>
          <p:nvPr/>
        </p:nvSpPr>
        <p:spPr>
          <a:xfrm>
            <a:off x="6519672" y="2697480"/>
            <a:ext cx="5212080" cy="310896"/>
          </a:xfrm>
          <a:prstGeom prst="rect">
            <a:avLst/>
          </a:prstGeom>
          <a:solidFill>
            <a:srgbClr val="EEF1F6"/>
          </a:solidFill>
          <a:ln w="12700">
            <a:solidFill>
              <a:srgbClr val="EEF1F6"/>
            </a:solidFill>
            <a:prstDash val="solid"/>
          </a:ln>
        </p:spPr>
      </p:sp>
      <p:sp>
        <p:nvSpPr>
          <p:cNvPr id="9" name="Text 6"/>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화면 5개 (휴대폰 웹)</a:t>
            </a:r>
            <a:endParaRPr lang="en-US" sz="115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914400"/>
                <a:gridCol w="292608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핵심 요소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말로 요청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마이크 버튼, 정리된 요청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일정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오후, 둘, 차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AI 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따기 → 터널 → 숙박 타임라인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내 티켓</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터널 칸 번호, 1년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군·농협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연결 건수, 평일 채움률,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조건으로 정리하고(JSON), 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효도택시의 사투리 해석·합승 묶기 엔진을 재사용 → 새로 짤 부분은 매칭·보상·운영 화면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캠핑장 평일 이용률, 터널 개인 보관, 빈집 숙소(다로리 마을호텔 2027 예정), 관광객 농작업 보험</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공공데이터포털·기상청·한국관광공사 API</a:t>
            </a:r>
            <a:endParaRPr lang="en-US" sz="7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5개, 휴대폰 웹, 시니어 글자 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/request · /plan · /inventory · /book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매칭·코스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 요청, 터널 칸, 캠핑 43면,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우천 대체, 주변 식당·관광지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데이터로 '머물지 않음'·일손 부족 증명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매칭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한마디로 요청·코스·예약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2026-10-30T07:35:03Z</dcterms:created>
  <dcterms:modified xsi:type="dcterms:W3CDTF">2026-10-30T07:35:03Z</dcterms:modified>
</cp:coreProperties>
</file>