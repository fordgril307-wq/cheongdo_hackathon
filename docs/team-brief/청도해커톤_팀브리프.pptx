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5.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4d7c3039-335e-8a13-0466-d27af291c21c}">
          <p14:sldIdLst>
            <p14:sldId id="256"/>
          </p14:sldIdLst>
        </p14:section>
        <p14:section name="팀 운영" id="{46045f3b-7a01-1d1e-a618-a658d0a657aa}">
          <p14:sldIdLst>
            <p14:sldId id="257"/>
            <p14:sldId id="258"/>
            <p14:sldId id="259"/>
            <p14:sldId id="260"/>
            <p14:sldId id="261"/>
            <p14:sldId id="262"/>
          </p14:sldIdLst>
        </p14:section>
        <p14:section name="청도 데이터" id="{9d41313e-cfd5-efa6-2db2-7a5dd8d358cb}">
          <p14:sldIdLst>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 name="아이디어" id="{d8286645-8a91-eee3-a581-f65a7f17e16a}">
          <p14:sldIdLst>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Lst>
        </p14:section>
        <p14:section name="부록" id="{1165b064-5094-223c-9d18-37aa7d96ba85}">
          <p14:sldIdLst>
            <p14:sldId id="303"/>
            <p14:sldId id="304"/>
            <p14:sldId id="305"/>
            <p14:sldId id="306"/>
            <p14:sldId id="307"/>
            <p14:sldId id="308"/>
          </p14:sldIdLst>
        </p14:section>
        <p14:section name="마무리" id="{97abf840-bc96-7dd8-bc3e-01c601e0815f}">
          <p14:sldIdLst>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19</c:v>
                </c:pt>
                <c:pt idx="1">
                  <c:v>13</c:v>
                </c:pt>
                <c:pt idx="2">
                  <c:v>8</c:v>
                </c:pt>
                <c:pt idx="3">
                  <c:v>5.5</c:v>
                </c:pt>
                <c:pt idx="4">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0</c:v>
                </c:pt>
                <c:pt idx="1">
                  <c:v>0</c:v>
                </c:pt>
                <c:pt idx="2">
                  <c:v>0</c:v>
                </c:pt>
                <c:pt idx="3">
                  <c:v>0</c:v>
                </c:pt>
                <c:pt idx="4">
                  <c:v>4.55</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경기</c:v>
                </c:pt>
              </c:strCache>
            </c:strRef>
          </c:tx>
          <c:spPr>
            <a:solidFill>
              <a:srgbClr val="B5BAC2"/>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Sheet1!$B$2:$B$3</c:f>
              <c:numCache>
                <c:formatCode>General</c:formatCode>
                <c:ptCount val="2"/>
                <c:pt idx="0">
                  <c:v>2</c:v>
                </c:pt>
                <c:pt idx="1">
                  <c:v>0</c:v>
                </c:pt>
              </c:numCache>
            </c:numRef>
          </c:val>
        </c:ser>
        <c:ser>
          <c:idx val="1"/>
          <c:order val="1"/>
          <c:tx>
            <c:strRef>
              <c:f>Sheet1!$C$1</c:f>
              <c:strCache>
                <c:ptCount val="1"/>
                <c:pt idx="0">
                  <c:v>빔</c:v>
                </c:pt>
              </c:strCache>
            </c:strRef>
          </c:tx>
          <c:spPr>
            <a:solidFill>
              <a:srgbClr val="FF8200"/>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Sheet1!$C$2:$C$3</c:f>
              <c:numCache>
                <c:formatCode>General</c:formatCode>
                <c:ptCount val="2"/>
                <c:pt idx="0">
                  <c:v>0</c:v>
                </c:pt>
                <c:pt idx="1">
                  <c:v>5</c:v>
                </c:pt>
              </c:numCache>
            </c:numRef>
          </c:val>
        </c:ser>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감</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Sheet1!$B$2:$B$5</c:f>
              <c:numCache>
                <c:formatCode>General</c:formatCode>
                <c:ptCount val="4"/>
                <c:pt idx="0">
                  <c:v>5589</c:v>
                </c:pt>
                <c:pt idx="1">
                  <c:v>0</c:v>
                </c:pt>
                <c:pt idx="2">
                  <c:v>0</c:v>
                </c:pt>
                <c:pt idx="3">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Sheet1!$C$2:$C$5</c:f>
              <c:numCache>
                <c:formatCode>General</c:formatCode>
                <c:ptCount val="4"/>
                <c:pt idx="0">
                  <c:v>0</c:v>
                </c:pt>
                <c:pt idx="1">
                  <c:v>4781</c:v>
                </c:pt>
                <c:pt idx="2">
                  <c:v>490</c:v>
                </c:pt>
                <c:pt idx="3">
                  <c:v>180</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80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가격</c:v>
                </c:pt>
              </c:strCache>
            </c:strRef>
          </c:tx>
          <c:spPr>
            <a:solidFill>
              <a:srgbClr val="FF8200"/>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10월 3일</c:v>
                  </c:pt>
                  <c:pt idx="1">
                    <c:v>10월 12일</c:v>
                  </c:pt>
                </c:lvl>
              </c:multiLvlStrCache>
            </c:multiLvlStrRef>
          </c:cat>
          <c:val>
            <c:numRef>
              <c:f>Sheet1!$B$2:$B$3</c:f>
              <c:numCache>
                <c:formatCode>General</c:formatCode>
                <c:ptCount val="2"/>
                <c:pt idx="0">
                  <c:v>16563</c:v>
                </c:pt>
                <c:pt idx="1">
                  <c:v>12849</c:v>
                </c:pt>
              </c:numCache>
            </c:numRef>
          </c:val>
        </c:ser>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1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900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7월</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Sheet1!$B$2:$B$3</c:f>
              <c:numCache>
                <c:formatCode>General</c:formatCode>
                <c:ptCount val="2"/>
                <c:pt idx="0">
                  <c:v>139</c:v>
                </c:pt>
                <c:pt idx="1">
                  <c:v>0</c:v>
                </c:pt>
              </c:numCache>
            </c:numRef>
          </c:val>
        </c:ser>
        <c:ser>
          <c:idx val="1"/>
          <c:order val="1"/>
          <c:tx>
            <c:strRef>
              <c:f>Sheet1!$C$1</c:f>
              <c:strCache>
                <c:ptCount val="1"/>
                <c:pt idx="0">
                  <c:v>10월</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Sheet1!$C$2:$C$3</c:f>
              <c:numCache>
                <c:formatCode>General</c:formatCode>
                <c:ptCount val="2"/>
                <c:pt idx="0">
                  <c:v>0</c:v>
                </c:pt>
                <c:pt idx="1">
                  <c:v>302</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34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1등급</c:v>
                </c:pt>
              </c:strCache>
            </c:strRef>
          </c:tx>
          <c:spPr>
            <a:solidFill>
              <a:srgbClr val="FF8200"/>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Sheet1!$B$2:$B$4</c:f>
              <c:numCache>
                <c:formatCode>General</c:formatCode>
                <c:ptCount val="3"/>
                <c:pt idx="0">
                  <c:v>151</c:v>
                </c:pt>
                <c:pt idx="1">
                  <c:v>0</c:v>
                </c:pt>
                <c:pt idx="2">
                  <c:v>0</c:v>
                </c:pt>
              </c:numCache>
            </c:numRef>
          </c:val>
        </c:ser>
        <c:ser>
          <c:idx val="1"/>
          <c:order val="1"/>
          <c:tx>
            <c:strRef>
              <c:f>Sheet1!$C$1</c:f>
              <c:strCache>
                <c:ptCount val="1"/>
                <c:pt idx="0">
                  <c:v>기타</c:v>
                </c:pt>
              </c:strCache>
            </c:strRef>
          </c:tx>
          <c:spPr>
            <a:solidFill>
              <a:srgbClr val="B5BAC2"/>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Sheet1!$C$2:$C$4</c:f>
              <c:numCache>
                <c:formatCode>General</c:formatCode>
                <c:ptCount val="3"/>
                <c:pt idx="0">
                  <c:v>0</c:v>
                </c:pt>
                <c:pt idx="1">
                  <c:v>321</c:v>
                </c:pt>
                <c:pt idx="2">
                  <c:v>30</c:v>
                </c:pt>
              </c:numCache>
            </c:numRef>
          </c:val>
        </c:ser>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757</c:v>
                </c:pt>
                <c:pt idx="1">
                  <c:v>1373</c:v>
                </c:pt>
                <c:pt idx="2">
                  <c:v>1566</c:v>
                </c:pt>
                <c:pt idx="3">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Sheet1!$C$2:$C$5</c:f>
              <c:numCache>
                <c:formatCode>General</c:formatCode>
                <c:ptCount val="4"/>
                <c:pt idx="0">
                  <c:v>0</c:v>
                </c:pt>
                <c:pt idx="1">
                  <c:v>0</c:v>
                </c:pt>
                <c:pt idx="2">
                  <c:v>0</c:v>
                </c:pt>
                <c:pt idx="3">
                  <c:v>2260</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만료 전</c:v>
                </c:pt>
              </c:strCache>
            </c:strRef>
          </c:tx>
          <c:spPr>
            <a:solidFill>
              <a:srgbClr val="B5BAC2"/>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전체</c:v>
                  </c:pt>
                  <c:pt idx="1">
                    <c:v>의사(의과)</c:v>
                  </c:pt>
                </c:lvl>
              </c:multiLvlStrCache>
            </c:multiLvlStrRef>
          </c:cat>
          <c:val>
            <c:numRef>
              <c:f>Sheet1!$B$2:$B$3</c:f>
              <c:numCache>
                <c:formatCode>General</c:formatCode>
                <c:ptCount val="2"/>
                <c:pt idx="0">
                  <c:v>14</c:v>
                </c:pt>
                <c:pt idx="1">
                  <c:v>5</c:v>
                </c:pt>
              </c:numCache>
            </c:numRef>
          </c:val>
        </c:ser>
        <c:ser>
          <c:idx val="1"/>
          <c:order val="1"/>
          <c:tx>
            <c:strRef>
              <c:f>Sheet1!$C$1</c:f>
              <c:strCache>
                <c:ptCount val="1"/>
                <c:pt idx="0">
                  <c:v>2026.4 이후</c:v>
                </c:pt>
              </c:strCache>
            </c:strRef>
          </c:tx>
          <c:spPr>
            <a:solidFill>
              <a:srgbClr val="FF8200"/>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전체</c:v>
                  </c:pt>
                  <c:pt idx="1">
                    <c:v>의사(의과)</c:v>
                  </c:pt>
                </c:lvl>
              </c:multiLvlStrCache>
            </c:multiLvlStrRef>
          </c:cat>
          <c:val>
            <c:numRef>
              <c:f>Sheet1!$C$2:$C$3</c:f>
              <c:numCache>
                <c:formatCode>General</c:formatCode>
                <c:ptCount val="2"/>
                <c:pt idx="0">
                  <c:v>8</c:v>
                </c:pt>
                <c:pt idx="1">
                  <c:v>2</c:v>
                </c:pt>
              </c:numCache>
            </c:numRef>
          </c:val>
        </c:ser>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1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legend>
      <c:legendPos val="t"/>
      <c:overlay val="0"/>
      <c:txPr>
        <a:bodyPr/>
        <a:lstStyle/>
        <a:p>
          <a:pPr>
            <a:defRPr sz="1000">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청도는 생활인구가 34만 명으로 주민의 8.6배지만, 관광주민증 혜택을 실제로 쓴 건 1.2%뿐입니다. 사람은 오는데 머물지 않고 다시 오지 않는 게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대표 관광시설은 이용객이 줄고 있습니다. 와인터널은 4년 새 76%, 레일바이크는 46% 줄었고, 반시축제 방문객도 줄었습니다. 있는 시설을 다시 살릴 아이디어가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청도에는 청도에만 있는 장소가 있습니다. 소싸움경기장은 1만 1천 석인데 경기는 토요일과 일요일만 열려 평일 닷새가 비어 있고, 와인터널은 옛 기차 터널을 와인 저장고로 바꾼 선례입니다.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반시는 출하가 몰리면서 9일 만에 가격이 22% 떨어졌고, 작은 감 비중도 평년보다 높습니다. 그래서 군이 작은 감 500톤을 사들여 저장하고 있습니다. 출하 시기를 나눌 저장 공간이 곧 가격이라는 뜻입니다. 일손 부족도 계속됩니다.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생활 기반입니다. 여름마다 고지대 단수가 반복되고, 전국적으로 농촌 마을 네 곳 중 세 곳은 마을 안에 식료품점이 없습니다. 청도의 소멸위험지수는 0.1 안팎으로 고위험이지만, 다녀가는 생활인구는 주민의 7.8배로 경북 1위입니다.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4월 공중보건의 의사가 5명에서 2명으로 줄었고 충원 계획도 없습니다. 의사 한 명이 보건지소 네다섯 곳을 돌고, 네 개 면에는 동네 의원이 없습니다. 의사가 오지 못하면 어르신이 움직여야 하는데, 농촌 교통사고 사망률은 도시의 두 배이고 청도는 사망자의 60% 이상이 어르신입니다. 효도택시가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청도에만 있는 장소를 다시 쓰는 아이디어입니다. 가장 추천하는 건 상설 소싸움경기장입니다. 경기는 토요일과 일요일만 열려서 평일 닷새는 1만 1천 석짜리 경기장이 비어 있습니다. 이 평일에 싱그린 농산물 직거래 장터와 택배 출고 거점으로 쓰면, 청도를 다녀간 생활인구를 단골로 만드는 장소가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소싸움경기장은 토요일과 일요일만 경기가 있어서 평일 닷새는 1만 1천 석이 비어 있습니다. 가장 추천하는 건 평일 밤 드라이브인 극장과 차박을 묶는 안입니다. 청도는 사람은 오는데 머물지 않는 게 문제라, 밤 일정을 만들어 체류를 늘리는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장소를 뒤집는 아이디어 세 가지입니다. 소싸움장은 평일 밤 영화관과 차박장으로, 와인터널은 1년 뒤 찾으러 와야 하는 내 와인 보관함으로, 신화랑풍류마을은 평일 워케이션으로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장소를 앱 하나로 묶은 청도 밤마실입니다. 청도는 생활인구가 34만 명인데 관광주민증 혜택 이용은 1.2%뿐입니다. 오후엔 화랑마을, 저녁엔 와인터널에 내 와인을 맡기고, 밤엔 소싸움장에서 영화를 보고 차박합니다. 1년 뒤 와인을 찾으러 다시 오게 만드는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2023년 대상작이 카센터의 남는 전기를 썼다면, 우리는 농가 저온저장고의 비는 달을 씁니다. 청도는 감, 복숭아, 미나리, 딸기의 수확 시기가 서로 달라서 한 작물 저장고는 1년 중 몇 달씩 비어 있습니다. 앱은 비는 저장고와 저장이 필요한 농가를 이어 주고, 주인은 임대료를 받습니다. 청도 저장고 수는 군청 확인이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외국인 계절근로자는 3년 만에 84명에서 450명으로 늘었습니다. 군은 80명 규모 기숙사를 새로 지을 계획이지만 나머지 370명의 숙소는 여전히 농가가 마련해야 합니다. 반면 바로 쓸 수 있는 1등급 빈집이 151호 있습니다. 새로 짓기 전에 있는 집부터 쓰자는 것이고, 앱은 빈집과 농가, 근로자를 짝지어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대회의 제출물은 실제로 배포된 웹 서비스입니다. 그래서 아이디어마다 당일 만들 화면 서너 개로 바꿔 봤습니다. 모두 입력, AI 처리, 결과 카드, 알림이라는 같은 구조라 효도택시 엔진을 재사용할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가안 2는 반나절 청도입니다. 청도에는 하루 1만 2천 명이 오지만 오후 서너 시면 떠납니다. 반대로 감 농가 5천5백 곳은 수확철 일손이 모자랍니다. AI가 이 둘을 짝지어 반나절 감 따기로 연결하고, 보상으로 와인터널에 내 감와인을 맡겨 1년 뒤 다시 오게 만듭니다. 지난 대상작처럼 놀고 있는 자원과 부족한 것을 잇는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우리가 만드는 건 체험 프로그램이 아니라 빈자리를 채우는 엔진입니다. 평일에 비는 농가 일손, 터널 칸, 캠핑장, 빈집, 택시 좌석을 실시간으로 모아서 방문객 일정에 맞게 AI가 묶어 줍니다. 항공사가 빈 좌석을 채우는 방식과 같고, 효도택시는 이 엔진의 이동 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가안 3은 관광 코스입니다. 주최 측이 DAY 2에 보여 주는 와인터널과 상상마루가 이미 옛 터널, 옛 버스터미널의 새 쓰임입니다. 청도 관광지는 방문객이 줄고 있고, 영화 쪽은 영화제 지원이 절반으로 줄고 극장이 문을 닫아 상영할 곳이 없습니다. 평일에 비는 소싸움장 돔이 이 둘을 동시에 풉니다. 청도 상설 영화관 유무는 군청 확인이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코스 지도입니다. 동대구에서 기차로 25분 안팎이면 청도역에 닿습니다. 청도역 인근 상상마루에서 짐을 맡기고, 와인터널에 감와인을 맡기고, 바로 옆 소싸움장에서 영화를 봅니다. 밤엔 합승 택시로 신화랑풍류마을에 묵고, 다음 날 운문사를 들러 돌아갑니다. 이동 시간은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데모는 화면 세 개입니다. 소싸움장 관람석에서 영화 좌석을 고르고, 네 곳을 QR 한 장으로 예약하고, 1년 뒤 와인이 익으면 재방문을 알립니다. 숙소는 지금은 신화랑풍류마을을 쓰고, 2027년부터는 폐교되는 금천고와 빈집을 추가 숙소로 검토합니다.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3.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3.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청도 데이터 · 아이디어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청도 데이터</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인구 · 관광 · 장소 · 농업 · 일손 · 돌봄 · 빈집·학교 · 환경·생활 · 의료 · 이동 · 군 정책</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예비 아이디어에 쓰는 장소·문제 데이터를 앞에, 효도택시(의료·이동) 데이터를 뒤에 배치</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 · 인구] </a:t>
            </a:r>
            <a:pPr algn="l" indent="0" marL="0">
              <a:buNone/>
            </a:pPr>
            <a:r>
              <a:rPr lang="en-US" sz="2400" b="1" dirty="0">
                <a:solidFill>
                  <a:srgbClr val="222222"/>
                </a:solidFill>
              </a:rPr>
              <a:t>60세 이상이 10명 중 6명,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 마을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있는데 손이 부족</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2 · 관광·체류] </a:t>
            </a:r>
            <a:pPr algn="l" indent="0" marL="0">
              <a:buNone/>
            </a:pPr>
            <a:r>
              <a:rPr lang="en-US" sz="2400" b="1" dirty="0">
                <a:solidFill>
                  <a:srgbClr val="222222"/>
                </a:solidFill>
              </a:rPr>
              <a:t>사람은 오는데 머물지 않음 — 관광주민증 혜택 이용 1.2%</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와도 머물지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다시 오지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 명(2025, 주민등록 인구의 8.6배)인데 관광주민증 9.9만 건 중 혜택 이용은 1,223건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 관광택시는 정원 999명에 신청 35명 → 지원책이 있어도 쓰이지 않음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경북연구원 분류 '외부 유입은 많지만 재방문 전환이 제한적인 관광형 지역' → 밤 일정·재방문 장치가 필요</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에 오는 사람"/>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청도에 오는 사람</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2026.10.7(생활인구)·2026.5.26(관광주민증)·2026.9.22(신화랑풍류마을), 경북일보 2025.2.18(소싸움)</a:t>
            </a:r>
            <a:endParaRPr lang="en-US" sz="7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265176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34.4만 명 (주민등록의 8.6배)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발급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9.9만 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 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39만 명 (매출 304억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 5만 명 (개장 3년)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혜택 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1,223건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3 · 관광지 추이] </a:t>
            </a:r>
            <a:pPr algn="l" indent="0" marL="0">
              <a:buNone/>
            </a:pPr>
            <a:r>
              <a:rPr lang="en-US" sz="2400" b="1" dirty="0">
                <a:solidFill>
                  <a:srgbClr val="222222"/>
                </a:solidFill>
              </a:rPr>
              <a:t>대표 관광시설은 내리막 — 와인터널 방문객 4년 새 76% 감소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시설도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점점 덜 찾음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19만 명(2021) → 4.55만 명(2025), 레일바이크 18.9만 → 10.1만 명(-46%, 2025 적자 약 5,200만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반시축제 45만 명(2022) → 35만 명(2025) → 약 10만 명(2026, 언론 추정), 축제 때마다 교통난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소싸움장만 2024년 39만 명·매출 304억 원으로 늘었지만 동물학대 논란·폐지법안 발의(2025.11)</a:t>
            </a:r>
            <a:endParaRPr lang="en-US" sz="1250" dirty="0"/>
          </a:p>
        </p:txBody>
      </p:sp>
      <p:sp>
        <p:nvSpPr>
          <p:cNvPr id="5" name="panel bar 와인터널 방문객 (만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와인터널 방문객 (만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2026.9.4(청도군 의회 제출 자료 인용)</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관광지·축제 방문 추이"/>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관광지·축제 방문 추이</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 매일신문 2023.8.30, 헤럴드경제 2026.1.20, 글로벌이코노믹 2026.10.20, 경북일보 2025.2.18, 위키트리 2024.12.26</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371600"/>
                <a:gridCol w="2651760"/>
                <a:gridCol w="14630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추이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레일바이크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18.9만(2021) → 10.1만(2025)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건설비 128억, 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45만(2022) → 35만 → 약 10만(2026)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2026은 언론 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39만 명·304억 원(2024)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토·일만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 1~3분기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 매출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25.2%, 음식업 41.3%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카드 빅데이터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4 · 놀고 있는 장소] </a:t>
            </a:r>
            <a:pPr algn="l" indent="0" marL="0">
              <a:buNone/>
            </a:pPr>
            <a:r>
              <a:rPr lang="en-US" sz="2400" b="1" dirty="0">
                <a:solidFill>
                  <a:srgbClr val="222222"/>
                </a:solidFill>
              </a:rPr>
              <a:t>청도에만 있는 장소들이 평일·낮에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새로 짓지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장소를 다시 쓰기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 돔형 관람석 약 1만1천 석, 경기는 토·일만 → 일주일 중 5일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110년 된 옛 경부선 터널(1.01km)을 와인 15만 병 저장고로 바꾼 선례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319곳·군 농기계 785대·폐교 예정 금천고처럼 마을마다 거점과 장비도 있음</a:t>
            </a:r>
            <a:endParaRPr lang="en-US" sz="1250" dirty="0"/>
          </a:p>
        </p:txBody>
      </p:sp>
      <p:sp>
        <p:nvSpPr>
          <p:cNvPr id="5" name="panel bar 소싸움경기장 일주일 (일)"/>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소싸움경기장 일주일 (일)</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2023.6.22(매주 토·일 하루 12경기)</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장소·시설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장소·시설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2024.8.7, 한국관광공사, 경북매일 2026.9.22·2025.5.6·2026.10.20, 뉴스서울 2024.7.17</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463040"/>
                <a:gridCol w="1645920"/>
                <a:gridCol w="1828800"/>
                <a:gridCol w="18288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쓰임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비는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관람석 약 1만1천 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토·일 하루 12경기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월~금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길이 1.01km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남는 공간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숙박·체험 시설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3년 누적 5만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가동률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운영 지원 47억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 시간(추정)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농기계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62종 785대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11,736건 임대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고교 1곳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2027.3 폐교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폐교 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 · 농업·특산물] </a:t>
            </a:r>
            <a:pPr algn="l" indent="0" marL="0">
              <a:buNone/>
            </a:pPr>
            <a:r>
              <a:rPr lang="en-US" sz="2400" b="1" dirty="0">
                <a:solidFill>
                  <a:srgbClr val="222222"/>
                </a:solidFill>
              </a:rPr>
              <a:t>감·복숭아 농가 1만 곳, 감 조수입 1,032억 원</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특산물은 강한데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일손·판로가 약함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감(반시) 5,589농가·1,541ha·28,143t·조수입 1,032억 원, 복숭아 4,781농가·12,327t·550억 원(2025)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농식품 수출 6,392만 달러로 경북 군 단위 1위, 임가 3,853가구는 전국 최다</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2025년 반시 착과량 전년보다 약 30% 감소, 농번기 일손은 외국인 계절근로자 450명에 의존</a:t>
            </a:r>
            <a:endParaRPr lang="en-US" sz="1250" dirty="0"/>
          </a:p>
        </p:txBody>
      </p:sp>
      <p:sp>
        <p:nvSpPr>
          <p:cNvPr id="5" name="panel bar 품목별 농가 수 (곳)"/>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품목별 농가 수 (곳)</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경북일보 2026.3.20, 대구일보 2026.8.26</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2026.8.26·8.12, 경북매일 2026.9.29, 매일신문 2023.8.30</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1,032억 원 (28,143t)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550억 원 (12,327t)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가공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생산량의 39.9%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98명, 귀촌 1,232명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5-2 · 농업 위기] </a:t>
            </a:r>
            <a:pPr algn="l" indent="0" marL="0">
              <a:buNone/>
            </a:pPr>
            <a:r>
              <a:rPr lang="en-US" sz="2400" b="1" dirty="0">
                <a:solidFill>
                  <a:srgbClr val="222222"/>
                </a:solidFill>
              </a:rPr>
              <a:t>반시 값 9일 만에 22% 하락, 군이 작은 감 500톤 사들여 저장</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출하가 한꺼번에 몰리면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값이 떨어짐</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가락시장 떫은감 5kg 16,563원 → 12,849원(2026.10.3~12, -22.4%), 출하량은 18%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작은 감(소과) 비중 45~50%로 평년(35~40%)보다 높음 → 군이 소과 500톤을 사들여 저장(11/6까지)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일손은 여전히 부족: 농번기 지원 연인원 3만 명, 하반기 계절근로자 79농가 316명 추가 입국</a:t>
            </a:r>
            <a:endParaRPr lang="en-US" sz="1250" dirty="0"/>
          </a:p>
        </p:txBody>
      </p:sp>
      <p:sp>
        <p:nvSpPr>
          <p:cNvPr id="5" name="panel bar 떫은감 5kg 가락시장 가격 (원)"/>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떫은감 5kg 가락시장 가격 (원)</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글로벌이코노믹 2026.10.25</a:t>
            </a:r>
            <a:endParaRPr lang="en-US" sz="750" dirty="0"/>
          </a:p>
        </p:txBody>
      </p:sp>
      <p:graphicFrame>
        <p:nvGraphicFramePr>
          <p:cNvPr id="8" name="Chart 0" descr=""/>
          <p:cNvGraphicFramePr/>
          <p:nvPr/>
        </p:nvGraphicFramePr>
        <p:xfrm>
          <a:off x="548640" y="3108960"/>
          <a:ext cx="475488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위기 지표"/>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위기 지표</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글로벌이코노믹 2026.10.25, 아주경제 2026.10.29, 경북매일 2025.4.28, 매일신문 2026.10.6, 경북매일 2025.12.3</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737360"/>
                <a:gridCol w="3017520"/>
                <a:gridCol w="12801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 가격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-22.4% (9일 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작은 감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45~50% (평년 35~40%)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소과 수매·저장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500t · 20kg 1만3,500원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2026.10~11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농번기 일손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연인원 3만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2025.5~7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하반기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79농가 316명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농가 65세+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59.2% (농가 10년 -11.8%)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6 · 사람·일손]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일손은 모자라고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거점은 비어 있음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7 · 돌봄·복지] </a:t>
            </a:r>
            <a:pPr algn="l" indent="0" marL="0">
              <a:buNone/>
            </a:pPr>
            <a:r>
              <a:rPr lang="en-US" sz="2400" b="1" dirty="0">
                <a:solidFill>
                  <a:srgbClr val="222222"/>
                </a:solidFill>
              </a:rPr>
              <a:t>통합돌봄 신청 3개월 새 2배, 군도 '농촌 이동지원'을 과제로 꼽음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돌봄 수요는 늘고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이동이 막힘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65세 이상 47.7%(2026.7), 치매 추정 유병률 10.18%(경북 평균 9.57%), 100세 이상 21명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노인일자리 2,262명·102억 원(2026), 통합돌봄 우선 관리대상 2,806명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통합돌봄 과제(군 발표): 교통이 불편한 농촌 이동지원 확대, 관내 의료기관 참여 부족</a:t>
            </a:r>
            <a:endParaRPr lang="en-US" sz="1250" dirty="0"/>
          </a:p>
        </p:txBody>
      </p:sp>
      <p:sp>
        <p:nvSpPr>
          <p:cNvPr id="5" name="panel bar 청도형 통합돌봄 신청자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청도형 통합돌봄 신청자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시사뉴스 2026.7.7, 매일신문 2026.10.7</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돌봄·복지 현황"/>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돌봄·복지 현황</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시사저널 2026.6.23, 경북일보 2026.10.11, 에너지경제 2026.2.24, 데일리대구경북 2026.6.22, 더파워 2026.6.22, 아주경제 2026.8.28</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463040"/>
                <a:gridCol w="347472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2,262명, 102억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통합돌봄 제공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349건(방문진료 20건)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이동지원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29건 — 수요 대비 부족(군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7곳 → 연말 30곳+ (320곳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노인복지 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833억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치매 유병률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10.18% (약 1,940명 추산)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8 · 빈집·학교·출생] </a:t>
            </a:r>
            <a:pPr algn="l" indent="0" marL="0">
              <a:buNone/>
            </a:pPr>
            <a:r>
              <a:rPr lang="en-US" sz="2400" b="1" dirty="0">
                <a:solidFill>
                  <a:srgbClr val="222222"/>
                </a:solidFill>
              </a:rPr>
              <a:t>바로 쓸 빈집 151호, 올해 출생 50명·사망 347명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비는 집·비는 교실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다시 쓸 공간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빈집 502호 중 1등급(활용 가능) 151호, 화양읍 다로리는 빈집 8동을 '마을호텔'로 바꾸는 중(21억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학교 30곳에 학생 2,527명(초 11곳 683명), 신입생 0명 초등학교 2곳, 금천고 2027.3 폐교</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1~7월 출생 50명·사망 347명, 전입 1,559명·전출 1,373명(순유입 +186명)</a:t>
            </a:r>
            <a:endParaRPr lang="en-US" sz="1250" dirty="0"/>
          </a:p>
        </p:txBody>
      </p:sp>
      <p:sp>
        <p:nvSpPr>
          <p:cNvPr id="5" name="panel bar 빈집 502호 등급 (호)"/>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빈집 502호 등급 (호)</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2024.11.20(한국부동산원 빈집실태조사), 공공데이터포털 청도군 빈집 현황</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학교·인구 이동"/>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학교·인구 이동</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청도교육지원청 일반현황(2026.9.1), 경북매일 2025.2.10·2026.10.20, 아주경제 2026.8.28, 농식품부 2025.4.1</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371600"/>
                <a:gridCol w="356616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학교·학생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30곳, 2,527명 (유치원 포함)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초·중·고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 683명 · 중 555명 · 고 1,206명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신입생 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초등학교 2곳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출생 /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50명 / 347명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전입 / 전출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1,559명 / 1,373명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다로리 마을호텔 8동·서점·영화관, 21억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 · 환경·재정] </a:t>
            </a:r>
            <a:pPr algn="l" indent="0" marL="0">
              <a:buNone/>
            </a:pPr>
            <a:r>
              <a:rPr lang="en-US" sz="2400" b="1" dirty="0">
                <a:solidFill>
                  <a:srgbClr val="222222"/>
                </a:solidFill>
              </a:rPr>
              <a:t>공모사업 3배, 재정자립도는 17.1%, 올여름 가뭄 '경계'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돈은 외부에서,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위기는 반복</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공모사업 확보 757억(2022) → 2,260억 원(2025), 그러나 재정자립도 17.1%, 지방소멸대응기금 2025년 집행률 57.2%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운문댐 용수 '경계' 단계, 강우 예년의 64%, 농업용 저수지 저수율 50.1%(2026.7)</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산불 46.8ha(2025.3), 무더위쉼터 249곳 — 재난 때 알림·대피 안내가 필요한 마을</a:t>
            </a:r>
            <a:endParaRPr lang="en-US" sz="1250" dirty="0"/>
          </a:p>
        </p:txBody>
      </p:sp>
      <p:sp>
        <p:nvSpPr>
          <p:cNvPr id="5" name="panel bar 공모사업 확보액 (억 원)"/>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공모사업 확보액 (억 원)</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브레이크뉴스·아시아경제 2026.1.12(청도군 발표)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재정·환경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재정·환경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2024.10.3, 대구일보 2025.12.22, 콜뉴스24 2026.9.4, 헤럴드경제 2026.7.14, 경북매일 2026.8.3·7.31·6.8, 아주경제 2025.3.14</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재정자립도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17.1%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본예산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7,563억 원 (+21.8%)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160억 중 57.2% 집행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산불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46.8ha, 헬기 27대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무더위쉼터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9-2 · 생활·인구] </a:t>
            </a:r>
            <a:pPr algn="l" indent="0" marL="0">
              <a:buNone/>
            </a:pPr>
            <a:r>
              <a:rPr lang="en-US" sz="2400" b="1" dirty="0">
                <a:solidFill>
                  <a:srgbClr val="222222"/>
                </a:solidFill>
              </a:rPr>
              <a:t>여름마다 단수, 소멸위험지수 0.1 — 생활 기반이 흔들림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물·장보기·사람이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모두 모자람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 여름 풍각·각남 고지대 약 2,400가구 단수, 2026년 8월 각북 전체·풍각·이서 일부 약 8시간 계획 단수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[전국] 농촌 행정리 73.5%가 마을 안에 식료품점이 없음 → 장보기도 읍까지 나가야 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소멸위험지수 0.097~0.11(고위험), 합계출산율 0.87, 인구 10여 년 전 약 4.7만 → 약 4만</a:t>
            </a:r>
            <a:endParaRPr lang="en-US" sz="1250" dirty="0"/>
          </a:p>
        </p:txBody>
      </p:sp>
      <p:sp>
        <p:nvSpPr>
          <p:cNvPr id="5" name="panel bar 생활 기반"/>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생활 기반</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YTN 2026.8.2, 연합뉴스 2026.7.31, 뉴시스 2025.1.1(2020 농림어업총조사)</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920240"/>
                <a:gridCol w="24688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고지대 단수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약 2,400가구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계획 단수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3개 면 · 약 8시간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2026.8.2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정수장 용량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운문정수장 하루 최대 2만1천t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[전국] 식료품점 없는 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행정리의 73.5%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인구 소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인구 소멸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이코노미스트 2025.7.14, 메트로신문 2025.9.2, 에너지경제 2025.9.17, 국민일보 2025.9.1</a:t>
            </a:r>
            <a:endParaRPr lang="en-US" sz="75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9260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소멸위험지수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0.097~0.11 (고위험)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합계출산율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0.87명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4.7만 → 약 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10여 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34만 (주민등록 7.8배, 경북 1위)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1분기 254만 명 (+6.4%)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 · 의료]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10-2 · 의료 인력·안전] </a:t>
            </a:r>
            <a:pPr algn="l" indent="0" marL="0">
              <a:buNone/>
            </a:pPr>
            <a:r>
              <a:rPr lang="en-US" sz="2400" b="1" dirty="0">
                <a:solidFill>
                  <a:srgbClr val="222222"/>
                </a:solidFill>
              </a:rPr>
              <a:t>공중보건의 의사 5명 → 2명, 올해 충원 0명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의사는 줄고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어르신이 움직여야 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공중보건의 14명 → 8명, 그중 의사(의과) 5명 → 2명(2026.4 복무 만료), 올해 충원 계획 없음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의사 1명이 보건지소 4~5곳을 돌아가며 진료 · 각남·각북·운문·매전 4개 면엔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 농촌 교통사고 사망률은 도시의 약 2배(10만 명당 19.4 vs 10.2), 청도는 사망자의 60% 이상이 65세 이상</a:t>
            </a:r>
            <a:endParaRPr lang="en-US" sz="1250" dirty="0"/>
          </a:p>
        </p:txBody>
      </p:sp>
      <p:sp>
        <p:nvSpPr>
          <p:cNvPr id="5" name="panel bar 청도 공중보건의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공중보건의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2026.4.16</a:t>
            </a:r>
            <a:endParaRPr lang="en-US" sz="750" dirty="0"/>
          </a:p>
        </p:txBody>
      </p:sp>
      <p:graphicFrame>
        <p:nvGraphicFramePr>
          <p:cNvPr id="8" name="Chart 0" descr=""/>
          <p:cNvGraphicFramePr/>
          <p:nvPr/>
        </p:nvGraphicFramePr>
        <p:xfrm>
          <a:off x="548640" y="3108960"/>
          <a:ext cx="475488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진료 공백과 교통 안전"/>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진료 공백과 교통 안전</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2026.4.16, 경북매일 2026.7.20, 동방일보 2026.8.13, 매일신문 2024.10.7</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737360"/>
                <a:gridCol w="320040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의사 1명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보건지소 4~5곳 순회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동네 의원 없는 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4곳 (각남·각북·운문·매전)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소아과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보건소 주 2회 · 보건지소 8곳 주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분만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외래 산부인과만 (분만실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교통사고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농촌 19.4 vs 도시 10.2 (10만 명당)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고령 사망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60% 이상 (청도 포함 8개 시군)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11 · 이동] </a:t>
            </a:r>
            <a:pPr algn="l" indent="0" marL="0">
              <a:buNone/>
            </a:pPr>
            <a:r>
              <a:rPr lang="en-US" sz="2400" b="1" dirty="0">
                <a:solidFill>
                  <a:srgbClr val="222222"/>
                </a:solidFill>
              </a:rPr>
              <a:t>정류장은 508곳, 어르신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1 · 관광·인구] </a:t>
            </a:r>
            <a:pPr algn="l" indent="0" marL="0">
              <a:buNone/>
            </a:pPr>
            <a:r>
              <a:rPr lang="en-US" sz="2400" b="1" dirty="0">
                <a:solidFill>
                  <a:srgbClr val="222222"/>
                </a:solidFill>
              </a:rPr>
              <a:t>군이 이미 하는 일 — 혜택은 만들었는데 쓰이지 않음</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하는 것의 빈틈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우리 앱의 자리</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관광주민증·반값여행·관광택시 지원이 따로 흩어져 있고, 신청 절차가 복잡해 이용이 낮음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시설·축제는 늘었지만 방문객은 줄거나(와인터널·레일바이크·반시축제) 논란(소싸움)이 있음</a:t>
            </a:r>
            <a:endParaRPr lang="en-US" sz="1250" dirty="0"/>
          </a:p>
        </p:txBody>
      </p:sp>
      <p:sp>
        <p:nvSpPr>
          <p:cNvPr id="5" name="panel bar 관광·인구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관광·인구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2026.5.26·2025.12.23, 세계일보 2026.3.5, 경북매일 2026.9.16, 뉴스스페이스 2026.1.19, 헤럴드경제 2026.1.18·2025.10.20, 메트로신문 2025.4.1, 콜뉴스24 2026.9.4</a:t>
            </a:r>
            <a:endParaRPr lang="en-US" sz="7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디지털 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앱 QR로 참여업체 할인 (2025.6~)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9.9만 건, 참여업체 26곳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혜택 이용 1,223건(1.2%)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반값여행·숙박 세일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20만 원 이상 쓰면 10만 원 상품권, 숙박 2만 원 쿠폰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사전신청·SNS 게시·영수증 3단계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요금 50% 군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신청 35명(10.24)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소싸움(공영사업공사)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돔경기장 토·일 연 1,224경기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2024년 39만 명·304억 원, 세수 56.8억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출혈 부상 60%+, 폐지법안 발의(2025.11)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코미디페스티벌 동시 개최, 9경 3곳 방문 시 무료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 경북 우수축제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감소(추정), 축제 교통난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빈집재생(다로리)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 마을호텔 8동·서점·영화관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21억 원, 전국 3곳 선정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 완료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지방소멸대응기금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청려도원(청년·귀농 주거) 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2022년 이후 누적 472억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2025년 집행률 57.2%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2 · 농업·돌봄·의료] </a:t>
            </a:r>
            <a:pPr algn="l" indent="0" marL="0">
              <a:buNone/>
            </a:pPr>
            <a:r>
              <a:rPr lang="en-US" sz="2400" b="1" dirty="0">
                <a:solidFill>
                  <a:srgbClr val="222222"/>
                </a:solidFill>
              </a:rPr>
              <a:t>농업·돌봄 예산은 커졌지만 이동·의사소통·인력이 막힘</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스스로 꼽은 과제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앱이 풀 문제</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통합돌봄은 '농촌 이동지원 확대'를, 계절근로자는 '의사소통'을, 의료는 '공중보건의 감소'를 과제로 꼽음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농산물 유통은 153억 원을 넣지만 군 스스로 '온라인몰은 재구매 유도가 어렵다'고 진단</a:t>
            </a:r>
            <a:endParaRPr lang="en-US" sz="1250" dirty="0"/>
          </a:p>
        </p:txBody>
      </p:sp>
      <p:sp>
        <p:nvSpPr>
          <p:cNvPr id="5" name="panel bar 농업·돌봄·의료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농업·돌봄·의료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2026.10.14·10.7·10.8, 헤럴드경제 2026.1.12, 아주경제 2026.6.19, 시사뉴스 2026.7.7, 경북매일 2026.7.20, 더파워 2026.6.22, 매일신문 2024.3.20</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농산물 유통 강화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스마트 APC·포장·온라인몰 (2026~2030)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153.5억 원 투입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온라인몰 재구매 유도 어려움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외국인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카빈티시 협약, 언어 도우미, 기숙사 24억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 → 450명, 무단이탈 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의사소통·숙소가 계속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청년농·귀농귀촌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정착금, 원스톱센터, 농기계 임대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98·귀촌 1,232명(2025)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정착률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청도형 통합돌봄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가사·식사·이동·방문진료 연계 (2026~)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신청 139 → 302명, 9월 349건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농촌 이동지원 확대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의료취약지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보건지소 순회 진료, 대남병원 24시간 응급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응급실 연 8,000명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공중보건의 감소로 진료 공백 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전 경로당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7곳 → 연말 30곳+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비상벨은 쓰러진 뒤 누르는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광역환승 편입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버스·철도 환승 (2024.12~)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단독 수치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주민 혜택 범위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   2. 예비 아이디어 1~3   3. 가안 1 효도택시 · 가안 2 반나절 청도 · 가안 3 청도 밤 코스</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모두 대회 전 참고용 — 제출 코드는 당일 주제 공개 뒤 새 저장소에서 작성</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 · 지형지물] </a:t>
            </a:r>
            <a:pPr algn="l" indent="0" marL="0">
              <a:buNone/>
            </a:pPr>
            <a:r>
              <a:rPr lang="en-US" sz="2400" b="1" dirty="0">
                <a:solidFill>
                  <a:srgbClr val="222222"/>
                </a:solidFill>
              </a:rPr>
              <a:t>청도에만 있는 장소를 다시 쓰기 — 와인터널처럼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평일 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와인터널(옛 경부선 터널 → 와인 15만 병 저장)처럼, 청도에만 있는 장소가 '놀고 있는 자원'이면 심사에서 가장 강함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소싸움경기장은 토·일만 경기 → 월~금 5일 비어 있음, 돔형 관람석 약 1만1천 석</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추천: 평일 밤 소싸움장 드라이브인 극장 + 차박 → '와도 머물지 않는' 관광을 밤 일정으로 붙잡기(활용안 7건은 다음 쪽)</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대회장인 신화랑풍류마을도 소재 후보 — 심사위원 눈앞의 장소라 설명이 쉬움</a:t>
            </a:r>
            <a:endParaRPr lang="en-US" sz="1250" dirty="0"/>
          </a:p>
        </p:txBody>
      </p:sp>
      <p:sp>
        <p:nvSpPr>
          <p:cNvPr id="5" name="panel bar 청도 지형지물 × 놀고 있는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지형지물 × 놀고 있는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경북매일 2026.9.22(신화랑풍류마을)·2026.7.31(운문댐), 한국관광공사(와인터널)</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828800"/>
                <a:gridCol w="2194560"/>
                <a:gridCol w="2331720"/>
                <a:gridCol w="3291840"/>
                <a:gridCol w="1627632"/>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(2의 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110년 된 옛 경부선 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냉장 보관이 되네? (농가 저온 창고)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상설 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비는 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소싸움장에서 영화 보고 차박이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토·일 하루 12경기, 연 1,224경기 · 돔형 약 1만1천 석 · 2024 39만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숙박·스카이트레일·짚 롤러코스터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화랑마을에서 워케이션이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개장 3년 누적 5만 명(2026.9)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객실 수·평일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운문댐 (참고)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자원이 아닌 위기(가뭄)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물 절약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저수율 27.3%(2026.7.30, 전년 63.7%), 생수 1만 병 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주제와 거리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1-1] </a:t>
            </a:r>
            <a:pPr algn="l" indent="0" marL="0">
              <a:buNone/>
            </a:pPr>
            <a:r>
              <a:rPr lang="en-US" sz="2400" b="1" dirty="0">
                <a:solidFill>
                  <a:srgbClr val="222222"/>
                </a:solidFill>
              </a:rPr>
              <a:t>소싸움경기장 평일 활용안 7건 — 약 1만1천 석이 월~금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1+2번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드라이브인 + 차박</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경기는 토·일만(하루 12경기, 연 1,224경기) → 평일 5일은 관람석·주차장·전광판이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1+2번: 평일 밤 영화·공연을 보고 그 자리에서 차박 → 관광주민증 이용 1.2%, '와도 머물지 않는' 문제를 겨냥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앱은 평일 밤 예약 + 주차 칸 배정 + 상영 일정 → 하루 안에 구현 가능한 크기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 평일 대관 규정, 전광판 상영·차량 진입 가능 여부, 방역 규정(2023 구제역으로 경기 중단)</a:t>
            </a:r>
            <a:endParaRPr lang="en-US" sz="1250" dirty="0"/>
          </a:p>
        </p:txBody>
      </p:sp>
      <p:sp>
        <p:nvSpPr>
          <p:cNvPr id="5" name="panel bar 평일 활용안 (위에서부터 추천 순)"/>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평일 활용안 (위에서부터 추천 순)</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서울신문 2023.5.15(구제역), 경북매일 2026.7.31(운문댐), 행안부·군 발표(고령 인구)</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548640"/>
                <a:gridCol w="3017520"/>
                <a:gridCol w="4050792"/>
                <a:gridCol w="3657600"/>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활용안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평일 경기장으로 채우는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연결되는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드라이브인 극장·공연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비어 있는 저녁 경기장 전광판·관람석에서 영화·공연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 밤 일정으로 체류 늘리기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차박·캠핑카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빈 주차장을 캠핑카·차박 거점으로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오토캠핑 연계, 1번과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시니어 e스포츠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대항 게임 대회를 관람석·전광판에서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경로당 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직거래 장터·택배 출고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장터, 농가 택배 묶음 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예비 아이디어 2의 7번(싱그린 단골)과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실내 걷기·건강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통로를 평일 오전 걷기 코스로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합승 목적지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환승·합승 허브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넓은 주차장에서 면별 택시가 모이는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중간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폭염·한파·가뭄 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무더위 쉼터, 가뭄 때 생수 배부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운문댐 저수율 27.3%(2026.7.30)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1-2] </a:t>
            </a:r>
            <a:pPr algn="l" indent="0" marL="0">
              <a:buNone/>
            </a:pPr>
            <a:r>
              <a:rPr lang="en-US" sz="2400" b="1" dirty="0">
                <a:solidFill>
                  <a:srgbClr val="222222"/>
                </a:solidFill>
              </a:rPr>
              <a:t>'이 마을에 이걸?' — 장소별 아이템 × 프로그램 × 앱</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터널 → 와인창고처럼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장소를 뒤집기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모래판 시네마: 소싸움장에서 영화를? — 평일 밤 모래판 앞 드라이브인 + 차박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터널 속 내 칸: 110년 된 기차 터널에 내 와인을? — 1년 뒤 찾으러 와야 마실 수 있음 →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화랑 워케이션: 화랑마을에서 회사 일을? — 평일 근무 + 퇴근 후 체험, 대회장이라 설명이 쉬움</a:t>
            </a:r>
            <a:endParaRPr lang="en-US" sz="1250" dirty="0"/>
          </a:p>
        </p:txBody>
      </p:sp>
      <p:sp>
        <p:nvSpPr>
          <p:cNvPr id="5" name="panel bar 장소별 설계"/>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장소별 설계</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한국관광공사(와인터널), 경북매일 2026.9.22(신화랑풍류마을)·2026.5.26(관광주민증)</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148840"/>
                <a:gridCol w="2057400"/>
                <a:gridCol w="2743200"/>
                <a:gridCol w="2697480"/>
                <a:gridCol w="1627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 · 이 마을에 이걸?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노리는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804672">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 모래판 시네마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밤 전광판 영화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수: 시네마 + 감와인 페어링 / 금: 상영 후 차박 1박 / 방학: 낮 훈련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날짜 열기(관리자) · 주차·차박 칸 예약 · QR · 우천 자동 취소 · 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빈 1만1,845석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 터널 속 내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1병을 터널 '내 칸'에 맡김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맡길 때 이름표·사진 / 6개월 숙성 소식 / 12개월 '찾으러 오세요' + 숙박 할인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QR · 숙성 타임라인 · 재방문 예약 · 관광주민증 혜택 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재방문 부족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 화랑 워케이션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노트북 근무 + 퇴근 후 체험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3박 4일, 매일 18시 '화랑 퇴근' 체험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좌석·숙박 예약 · 체험 시간표 · 저녁 코스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숙박 가동(확인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1-3] </a:t>
            </a:r>
            <a:pPr algn="l" indent="0" marL="0">
              <a:buNone/>
            </a:pPr>
            <a:r>
              <a:rPr lang="en-US" sz="2400" b="1" dirty="0">
                <a:solidFill>
                  <a:srgbClr val="222222"/>
                </a:solidFill>
              </a:rPr>
              <a:t>세 장소를 앱 하나로 — '청도 밤마실'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낮에 왔다 가는 청도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밤까지 머물고 다시 오는 청도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34.4만인데 관광주민증 혜택 이용은 1.2% → '와도 머물지 않고, 다시 오지 않는' 문제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오후 화랑 → 저녁 터널 '내 칸' → 밤 모래판 시네마·차박 → 1년 뒤 와인 찾으러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이동은 관광택시·효도택시 합승 — 효도택시의 '접수 → 배정 → 알림' 엔진을 그대로 재사용</a:t>
            </a:r>
            <a:endParaRPr lang="en-US" sz="1250" dirty="0"/>
          </a:p>
        </p:txBody>
      </p:sp>
      <p:sp>
        <p:nvSpPr>
          <p:cNvPr id="5" name="panel bar 하루 코스와 앱 탭"/>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하루 코스와 앱 탭</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2026.10.7(생활인구)</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005840"/>
                <a:gridCol w="3931920"/>
                <a:gridCol w="1371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 워케이션 또는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와인터널에서 '내 칸'에 와인 맡기기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모래판 시네마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모래판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1년 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찾으러 오세요' 알림 →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관광택시·효도택시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해커톤 데모 범위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해커톤 데모 범위 / 확인 필요</a:t>
            </a:r>
            <a:endParaRPr lang="en-US" sz="11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05840"/>
                <a:gridCol w="3657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웹 1개: 모래판·터널·택시 탭 + 관리자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재사용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접수·배정·알림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청도공영사업공사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와인터널 내부 온도·개인 보관 가능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신화랑풍류마을 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 주제 맞춤] </a:t>
            </a:r>
            <a:pPr algn="l" indent="0" marL="0">
              <a:buNone/>
            </a:pPr>
            <a:r>
              <a:rPr lang="en-US" sz="2400" b="1" dirty="0">
                <a:solidFill>
                  <a:srgbClr val="222222"/>
                </a:solidFill>
              </a:rPr>
              <a:t>'청도에서 이게 되네?'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+ 1~3번 우선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1번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2번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3번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3-1 · 민간 자원] </a:t>
            </a:r>
            <a:pPr algn="l" indent="0" marL="0">
              <a:buNone/>
            </a:pPr>
            <a:r>
              <a:rPr lang="en-US" sz="2400" b="1" dirty="0">
                <a:solidFill>
                  <a:srgbClr val="222222"/>
                </a:solidFill>
              </a:rPr>
              <a:t>농가 저온저장고 — 작물마다 비는 달이 다르다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남의 저장고가 비는 달에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내 작물을 넣는다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저장고가 없으면 수확 즉시 한꺼번에 출하 → 출하가 몰려 값이 떨어짐 (지자체들이 저장고 보조를 하는 이유)</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청도는 미나리·딸기·복숭아·감의 수확 시기가 엇갈림 → 한 작물 저장고는 1년 중 몇 달씩 빔</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앱: 저장고 주인은 빈 기간·온도 등록, 농가는 작물·물량 입력 → AI가 맞는 저장고·기간 연결, 주인은 임대료</a:t>
            </a:r>
            <a:endParaRPr lang="en-US" sz="1250" dirty="0"/>
          </a:p>
        </p:txBody>
      </p:sp>
      <p:sp>
        <p:nvSpPr>
          <p:cNvPr id="5" name="panel bar 청도 주요 작물 — 언제 저장고가 필요한가"/>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주요 작물 — 언제 저장고가 필요한가</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2026.8.26(재배 규모) · 출하 시기는 일반적 시기, 청도 농가 확인 필요</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234440"/>
                <a:gridCol w="2743200"/>
                <a:gridCol w="2331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작물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 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 출하·저장 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감(반시)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5,589농가 · 28,143t · 1,032억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9~1월 (홍시·저장)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4,781농가 · 12,327t · 550억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6~9월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딸기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180여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12~5월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 빈 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감 저장고는 봄·여름이 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복숭아 저장고는 가을·겨울이 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근거와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근거와 확인 필요</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예산군 보도(뉴스서울), 산청군 보도(메트로신문 2024.2.7), 한국농촌경제연구원 떫은감 관측 2022.10</a:t>
            </a:r>
            <a:endParaRPr lang="en-US" sz="75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51560"/>
                <a:gridCol w="36118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저장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보조 목적 = 출하 집중에 따른 가격 하락 방지 (예산군)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보급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소형 저온저장고 보조 50%·최대 500만 원(산청군 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가격 변동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반시 산지가격 전년 대비 +29.2%(2022.9) → 시기 조절 가치 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농가 저온저장고 수·보조 실적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작물 간 온도 차(감 0℃ 안팎 / 채소 다름), 냄새 섞임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3-2 · 민간 자원] </a:t>
            </a:r>
            <a:pPr algn="l" indent="0" marL="0">
              <a:buNone/>
            </a:pPr>
            <a:r>
              <a:rPr lang="en-US" sz="2400" b="1" dirty="0">
                <a:solidFill>
                  <a:srgbClr val="222222"/>
                </a:solidFill>
              </a:rPr>
              <a:t>빈집 × 계절근로자 숙소 — 짓기 전에 있는 집부터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근로자는 5배로 느는데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기숙사는 80명분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84명(2023) → 450명(2026), 숙소는 농가가 각자 마련하는 구조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군은 화양읍 삼신리에 약 80명 기숙사 신축 계획 → 나머지 약 370명은 여전히 농가 몫</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바로 쓸 수 있는 1등급 빈집 151호 → 앱이 빈집·농가·근로자를 거리·인원으로 짝짓고, 집주인은 임대료 + 집 관리</a:t>
            </a:r>
            <a:endParaRPr lang="en-US" sz="1250" dirty="0"/>
          </a:p>
        </p:txBody>
      </p:sp>
      <p:sp>
        <p:nvSpPr>
          <p:cNvPr id="5" name="panel bar 숫자로 보는 숙소 공백"/>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숫자로 보는 숙소 공백</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2026.10.7(근로자), 경북매일 2025.4.21(기숙사), 아주경제 2024.11.20·공공데이터포털(빈집)</a:t>
            </a:r>
            <a:endParaRPr lang="en-US" sz="7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417320"/>
                <a:gridCol w="2788920"/>
                <a:gridCol w="2103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84명(19농가) → 450명(127농가)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2023→2026, 5.4배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기숙사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80명 · 28실 · 4층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국비 12억, 신축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남는 수요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약 370명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450 − 80, 농가가 마련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502호 (1등급 151 · 2등급 321)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1등급 = 바로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다른 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문경 기숙사 27실 · 58명 신축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다들 '짓는'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왜 빈집인가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왜 빈집인가 / 확인 필요</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비즈한국 2021.2.25(고용노동부 실태조사 3,850명), 경북매일 2026.4.22(문경)</a:t>
            </a:r>
            <a:endParaRPr lang="en-US" sz="75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51560"/>
                <a:gridCol w="36118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현실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농·어업 외국인 근로자 69.6%가 가설건축물(컨테이너·패널·비닐하우스) 거주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규제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2021년부터 불법 가설건축물 숙소 제공 시 고용허가 불허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 장점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일반주택 = 기준 충족 쉬움, 새로 안 지음, 빈집 관리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1등급 빈집 중 임대 의향 있는 집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계절근로 숙소 현행 기준(2021 이후 변경)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 웹] </a:t>
            </a:r>
            <a:pPr algn="l" indent="0" marL="0">
              <a:buNone/>
            </a:pPr>
            <a:r>
              <a:rPr lang="en-US" sz="2400" b="1" dirty="0">
                <a:solidFill>
                  <a:srgbClr val="222222"/>
                </a:solidFill>
              </a:rPr>
              <a:t>제출물은 배포된 웹 — 아이디어마다 '당일 만드는 화면'으로 바꿔 보기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고르는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웹 화면 3~4개로 시연되나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제출물 = 기획서 + GitHub 코드 + Azure에 배포된 웹 서비스(휴대폰에서 주소로 열림), 앱스토어 앱은 만들지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모든 아이디어를 '입력 → AI 처리 → 결과 카드 → 알림' 하나의 구조로 맞추면 효도택시 엔진을 그대로 재사용</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난이도 '하'는 이미 만든 부분이 많은 것, '상'은 화면·데이터가 많아 시간 위험이 큰 것</a:t>
            </a:r>
            <a:endParaRPr lang="en-US" sz="1250" dirty="0"/>
          </a:p>
        </p:txBody>
      </p:sp>
      <p:sp>
        <p:nvSpPr>
          <p:cNvPr id="5" name="panel bar 아이디어별 당일 만드는 웹 (효도택시는 화면 시안 있음)"/>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아이디어별 당일 만드는 웹 (효도택시는 화면 시안 있음)</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페이지(제출물·필수 도구), 공공데이터포털·한국관광공사 TourAPI·기상청 단기예보(API)</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2011680"/>
                <a:gridCol w="3931920"/>
                <a:gridCol w="2331720"/>
                <a:gridCol w="1993392"/>
                <a:gridCol w="1005840"/>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 (3~4개)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AI가 하는 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쓰는 데이터·API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난이도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모래판 시네마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관리자 날짜 열기 · 주차·차박 칸 예약 · QR 입장권 · 우천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날씨 보고 취소·안내 문구 작성</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단기예보, TourAPI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터널 속 내 칸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등록 · QR · 숙성 타임라인 · 재방문 예약</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숙성 소식·재방문 코스 추천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TourAPI(숙소·식당)</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반나절 청도 (가안 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일손 요청 · AI 짝짓기 · 예약·합승 · 보상 QR + 운영자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정리 · 방문객-농가 매칭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 기상청, 캠핑장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마을방송 번역기 (2-1)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방송 녹음 · 요약·번역 결과 · 큰 글씨 문자 · 다시 듣기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음성 인식 → 요약 → 다국어 번역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됨(음성 입력)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 픽업 (2-2)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택배 등록 · 경로당 배정 · 도착 알림 · 담당자 목록</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묶음 배정</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위치(확인 필요)</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싱그린 단골 (2-7)</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농가가 말로 상품 등록 · 상세페이지 · 정기배송 신청 · 수확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상품 설명·사진 문구</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예약 · 언제 · 확인 · 탑승권 + 담당자 지도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해석 · 합승 배차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버스정류장 좌표, 병원 현황</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가안 1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1</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청도효도택시</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평일에 노는 관광택시·행복택시의 빈자리 × 병원 가는 어르신</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주제가 고령·이동·의료로 나오면 · 사투리 예약 + AI 합승 배차</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개요]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기능]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화면]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가안 2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2</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반나절 청도 (가칭)</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오후 3시에 떠나는 관광객의 반나절 × 일손 모자란 감 농가</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청도의 빈자리, AI가 채웁니다 · 주제 '청도에서 이게 되네?' 맞춤</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개요] </a:t>
            </a:r>
            <a:pPr algn="l" indent="0" marL="0">
              <a:buNone/>
            </a:pPr>
            <a:r>
              <a:rPr lang="en-US" sz="2400" b="1" dirty="0">
                <a:solidFill>
                  <a:srgbClr val="222222"/>
                </a:solidFill>
              </a:rPr>
              <a:t>오후 3시에 떠나는 관광객의 반나절 × 일손 모자란 감 농가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오는데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시간·돈이 남지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문제: 하루 1.25만 명이 오지만 오후 2~3시가 정점, 관광주민증 혜택 이용 1.2% → 청도에 머물지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동시에 감 농가 5,589곳은 수확철 일손을 외국인 계절근로자 450명에 의존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서비스: AI가 오늘 일손이 필요한 농가와 일정이 비는 방문객을 짝지음 → 반나절 감 따기 → 보상으로 터널 '내 칸' 감와인 + 하룻밤 숙박 → 1년 뒤 재방문</a:t>
            </a:r>
            <a:endParaRPr lang="en-US" sz="1250" dirty="0"/>
          </a:p>
        </p:txBody>
      </p:sp>
      <p:sp>
        <p:nvSpPr>
          <p:cNvPr id="5" name="panel bar 지난 대상작과 같은 공식"/>
          <p:cNvSpPr/>
          <p:nvPr/>
        </p:nvSpPr>
        <p:spPr>
          <a:xfrm>
            <a:off x="457200" y="2697480"/>
            <a:ext cx="57607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5412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지난 대상작과 같은 공식</a:t>
            </a:r>
            <a:endParaRPr lang="en-US" sz="1150" dirty="0"/>
          </a:p>
        </p:txBody>
      </p:sp>
      <p:sp>
        <p:nvSpPr>
          <p:cNvPr id="7" name="Text 5"/>
          <p:cNvSpPr txBox="1"/>
          <p:nvPr/>
        </p:nvSpPr>
        <p:spPr>
          <a:xfrm>
            <a:off x="457200" y="6035040"/>
            <a:ext cx="57607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DEPS·2024 나누리 팀 회고, 청도 데이터 2·3·5(부록 3·3-2 출처)</a:t>
            </a:r>
            <a:endParaRPr lang="en-US" sz="7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760720" cy="914400"/>
        </p:xfrm>
        <a:graphic>
          <a:graphicData uri="http://schemas.openxmlformats.org/drawingml/2006/table">
            <a:tbl>
              <a:tblPr/>
              <a:tblGrid>
                <a:gridCol w="1188720"/>
                <a:gridCol w="2377440"/>
                <a:gridCol w="21945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대상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2026 우리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오후 3시에 떠나는 방문객의 반나절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수확철 감 농가 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9" name="Text 6"/>
          <p:cNvSpPr txBox="1"/>
          <p:nvPr/>
        </p:nvSpPr>
        <p:spPr>
          <a:xfrm>
            <a:off x="457200" y="5440680"/>
            <a:ext cx="5760720" cy="411480"/>
          </a:xfrm>
          <a:prstGeom prst="rect">
            <a:avLst/>
          </a:prstGeom>
          <a:noFill/>
          <a:ln/>
        </p:spPr>
        <p:txBody>
          <a:bodyPr wrap="square" lIns="0" tIns="0" rIns="0" bIns="0" rtlCol="0" anchor="ctr"/>
          <a:lstStyle/>
          <a:p>
            <a:pPr indent="0" marL="0">
              <a:buNone/>
            </a:pPr>
            <a:r>
              <a:rPr lang="en-US" sz="1050" b="1" dirty="0">
                <a:solidFill>
                  <a:srgbClr val="00358F"/>
                </a:solidFill>
                <a:latin typeface="Pretendard" pitchFamily="34" charset="0"/>
                <a:ea typeface="Pretendard" pitchFamily="34" charset="-122"/>
                <a:cs typeface="Pretendard" pitchFamily="34" charset="-120"/>
              </a:rPr>
              <a:t>차별점  </a:t>
            </a:r>
            <a:pPr indent="0" marL="0">
              <a:buNone/>
            </a:pPr>
            <a:r>
              <a:rPr lang="en-US" sz="1050" dirty="0">
                <a:solidFill>
                  <a:srgbClr val="222222"/>
                </a:solidFill>
                <a:latin typeface="Pretendard" pitchFamily="34" charset="0"/>
                <a:ea typeface="Pretendard" pitchFamily="34" charset="-122"/>
                <a:cs typeface="Pretendard" pitchFamily="34" charset="-120"/>
              </a:rPr>
              <a:t>나누리는 '농산물'을 나눔, 우리는 '사람의 남는 시간'을 일손·체류로 바꿈</a:t>
            </a:r>
            <a:endParaRPr lang="en-US" sz="1050" dirty="0"/>
          </a:p>
        </p:txBody>
      </p:sp>
      <p:sp>
        <p:nvSpPr>
          <p:cNvPr id="10" name="panel bar 근거 숫자"/>
          <p:cNvSpPr/>
          <p:nvPr/>
        </p:nvSpPr>
        <p:spPr>
          <a:xfrm>
            <a:off x="6519672" y="2697480"/>
            <a:ext cx="5212080" cy="310896"/>
          </a:xfrm>
          <a:prstGeom prst="rect">
            <a:avLst/>
          </a:prstGeom>
          <a:solidFill>
            <a:srgbClr val="EEF1F6"/>
          </a:solidFill>
          <a:ln w="12700">
            <a:solidFill>
              <a:srgbClr val="EEF1F6"/>
            </a:solidFill>
            <a:prstDash val="solid"/>
          </a:ln>
        </p:spPr>
      </p:sp>
      <p:sp>
        <p:nvSpPr>
          <p:cNvPr id="11" name="Text 8"/>
          <p:cNvSpPr txBox="1"/>
          <p:nvPr/>
        </p:nvSpPr>
        <p:spPr>
          <a:xfrm>
            <a:off x="6629400" y="2697480"/>
            <a:ext cx="49926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근거 숫자</a:t>
            </a:r>
            <a:endParaRPr lang="en-US" sz="1150" dirty="0"/>
          </a:p>
        </p:txBody>
      </p:sp>
      <p:sp>
        <p:nvSpPr>
          <p:cNvPr id="12" name="Text 9"/>
          <p:cNvSpPr txBox="1"/>
          <p:nvPr/>
        </p:nvSpPr>
        <p:spPr>
          <a:xfrm>
            <a:off x="6519672" y="6035040"/>
            <a:ext cx="52120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위키트리 2024.12.26, 경북매일 2026.5.26, 아주경제 2026.10.1, 매일신문 2026.10.8, 콜뉴스24 2026.9.4, 한국관광공사</a:t>
            </a:r>
            <a:endParaRPr lang="en-US" sz="750" dirty="0"/>
          </a:p>
        </p:txBody>
      </p:sp>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6519672" y="3090672"/>
          <a:ext cx="5212080" cy="914400"/>
        </p:xfrm>
        <a:graphic>
          <a:graphicData uri="http://schemas.openxmlformats.org/drawingml/2006/table">
            <a:tbl>
              <a:tblPr/>
              <a:tblGrid>
                <a:gridCol w="1645920"/>
                <a:gridCol w="35661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9.9만 건 발급, 혜택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5,589곳, 조수입 1,032억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농번기 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계절근로자 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4년 새 -76%,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평일 숙박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오토캠핑장 43면, 활용 가능 빈집 151호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빈자리 엔진] </a:t>
            </a:r>
            <a:pPr algn="l" indent="0" marL="0">
              <a:buNone/>
            </a:pPr>
            <a:r>
              <a:rPr lang="en-US" sz="2400" b="1" dirty="0">
                <a:solidFill>
                  <a:srgbClr val="222222"/>
                </a:solidFill>
              </a:rPr>
              <a:t>체험 프로그램이 아니라 '청도의 빈자리, AI가 채웁니다'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항공사가 빈 좌석을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채우는 방식 그대로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평일에 비는 자리(일손 요청·터널 칸·캠핑·빈집·택시 좌석)를 실시간으로 모아, 방문객 일정에 맞게 AI가 묶어 팖</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"금요일 퇴근 후 둘, 차 없음" 한마디 → 날짜·인원·조건으로 정리 → 빈자리 조회 → 1박 코스와 예약까지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효도택시는 이 엔진의 '이동' 칸 — 주제가 바뀌어도 빈자리 종류만 바꿔 끼우면 됨</a:t>
            </a:r>
            <a:endParaRPr lang="en-US" sz="1250" dirty="0"/>
          </a:p>
        </p:txBody>
      </p:sp>
      <p:sp>
        <p:nvSpPr>
          <p:cNvPr id="5" name="panel bar 엔진이 채우는 빈자리"/>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엔진이 채우는 빈자리</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 데이터 3·4·5(부록 3·3-2 출처), 한국관광공사(오토캠핑장)</a:t>
            </a:r>
            <a:endParaRPr lang="en-US" sz="7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1645920"/>
                <a:gridCol w="2651760"/>
                <a:gridCol w="237744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빈자리 종류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얼마나 비나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엔진에서의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농가 일손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농가 5,589곳, 외국인 450명 의존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간판 — 방문객 반나절과 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4년 새 -76%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보상·재방문 (1년 뒤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오토캠핑장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43면, 평일 이용률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 (비 오면 자동 대체)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 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활용 가능 151호 (제안)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 대체 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35명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이동 — 효도택시 합승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주제가 바뀌면 빈자리만 교체"/>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주제가 바뀌면 빈자리만 교체</a:t>
            </a:r>
            <a:endParaRPr lang="en-US" sz="1150" dirty="0"/>
          </a:p>
        </p:txBody>
      </p:sp>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371600"/>
                <a:gridCol w="29260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당일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간판 빈자리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관광·체류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칸 · 캠핑 · 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농업·일손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 일손 요청 (지금 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고령·이동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 좌석 → 가안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돌봄·복지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 통합돌봄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흐름·화면] </a:t>
            </a:r>
            <a:pPr algn="l" indent="0" marL="0">
              <a:buNone/>
            </a:pPr>
            <a:r>
              <a:rPr lang="en-US" sz="2400" b="1" dirty="0">
                <a:solidFill>
                  <a:srgbClr val="222222"/>
                </a:solidFill>
              </a:rPr>
              <a:t>농가는 말로 요청, 방문객은 한 번에 예약 — 화면 5개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농가 · 방문객 · 운영자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세 사람이 쓰는 웹</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농가 어르신은 사투리로 "내일 오전 감 따는 데 세 명"만 말하면 AI가 요청서로 정리(효도택시 해석 엔진)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방문객은 일정만 말하면 AI가 맞는 농가·이동·보상·숙박을 한 코스로 묶어 제안</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운영자(군·농협)는 연결 건수·일손 시간·평일 채움률·재방문 예약을 한 화면에서 확인</a:t>
            </a:r>
            <a:endParaRPr lang="en-US" sz="1250" dirty="0"/>
          </a:p>
        </p:txBody>
      </p:sp>
      <p:sp>
        <p:nvSpPr>
          <p:cNvPr id="5" name="panel bar 서비스 흐름"/>
          <p:cNvSpPr/>
          <p:nvPr/>
        </p:nvSpPr>
        <p:spPr>
          <a:xfrm>
            <a:off x="457200" y="2697480"/>
            <a:ext cx="57607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5412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서비스 흐름</a:t>
            </a:r>
            <a:endParaRPr lang="en-US" sz="11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760720" cy="914400"/>
        </p:xfrm>
        <a:graphic>
          <a:graphicData uri="http://schemas.openxmlformats.org/drawingml/2006/table">
            <a:tbl>
              <a:tblPr/>
              <a:tblGrid>
                <a:gridCol w="914400"/>
                <a:gridCol w="3474720"/>
                <a:gridCol w="13716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①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농가가 말로 일손 요청 → AI가 날짜·시간·인원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② 짝짓기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AI가 일정 비는 방문객과 농가를 매칭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반나절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③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차 없는 사람끼리 관광택시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 빈자리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④ 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한 병을 터널 '내 칸'에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 빈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⑤ 하룻밤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캠핑장·빈집 숙소 예약(비 오면 자동 대체)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캠핑 43면·빈집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⑥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1년 뒤 '와인 찾으러 오세요'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화면 5개 (휴대폰 웹)"/>
          <p:cNvSpPr/>
          <p:nvPr/>
        </p:nvSpPr>
        <p:spPr>
          <a:xfrm>
            <a:off x="6519672" y="2697480"/>
            <a:ext cx="5212080" cy="310896"/>
          </a:xfrm>
          <a:prstGeom prst="rect">
            <a:avLst/>
          </a:prstGeom>
          <a:solidFill>
            <a:srgbClr val="EEF1F6"/>
          </a:solidFill>
          <a:ln w="12700">
            <a:solidFill>
              <a:srgbClr val="EEF1F6"/>
            </a:solidFill>
            <a:prstDash val="solid"/>
          </a:ln>
        </p:spPr>
      </p:sp>
      <p:sp>
        <p:nvSpPr>
          <p:cNvPr id="9" name="Text 6"/>
          <p:cNvSpPr txBox="1"/>
          <p:nvPr/>
        </p:nvSpPr>
        <p:spPr>
          <a:xfrm>
            <a:off x="6629400" y="2697480"/>
            <a:ext cx="49926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화면 5개 (휴대폰 웹)</a:t>
            </a:r>
            <a:endParaRPr lang="en-US" sz="1150" dirty="0"/>
          </a:p>
        </p:txBody>
      </p:sp>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6519672" y="3090672"/>
          <a:ext cx="5212080" cy="914400"/>
        </p:xfrm>
        <a:graphic>
          <a:graphicData uri="http://schemas.openxmlformats.org/drawingml/2006/table">
            <a:tbl>
              <a:tblPr/>
              <a:tblGrid>
                <a:gridCol w="1371600"/>
                <a:gridCol w="914400"/>
                <a:gridCol w="292608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누가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핵심 요소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말로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마이크 버튼, 정리된 요청 카드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일정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"금요일 오후, 둘, 차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AI 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따기 → 터널 → 숙박 타임라인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내 티켓</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QR, 터널 칸 번호, 1년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군·농협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연결 건수, 평일 채움률,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기술 구성] </a:t>
            </a:r>
            <a:pPr algn="l" indent="0" marL="0">
              <a:buNone/>
            </a:pPr>
            <a:r>
              <a:rPr lang="en-US" sz="2400" b="1" dirty="0">
                <a:solidFill>
                  <a:srgbClr val="222222"/>
                </a:solidFill>
              </a:rPr>
              <a:t>Azure 정적 웹 + Functions + Azure OpenAI — 하루 구현 기준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AI가 빈자리를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조회하고 묶는 엔진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AI는 말을 조건으로 정리하고(JSON), 빈자리 조회 함수를 불러 코스를 짬 → 실패하면 규칙 기반으로 대체해 데모가 멈추지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효도택시의 사투리 해석·합승 묶기 엔진을 재사용 → 새로 짤 부분은 매칭·보상·운영 화면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필요(기획서엔 '제안'): 캠핑장 평일 이용률, 터널 개인 보관, 빈집 숙소(다로리 마을호텔 2027 예정), 관광객 농작업 보험</a:t>
            </a:r>
            <a:endParaRPr lang="en-US" sz="1250" dirty="0"/>
          </a:p>
        </p:txBody>
      </p:sp>
      <p:sp>
        <p:nvSpPr>
          <p:cNvPr id="5" name="panel bar 구성"/>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구성</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필수 도구(GitHub Copilot·Azure), 공공데이터포털·기상청·한국관광공사 API</a:t>
            </a:r>
            <a:endParaRPr lang="en-US" sz="7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914400"/>
                <a:gridCol w="2286000"/>
                <a:gridCol w="3474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Static Web Apps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5개, 휴대폰 웹, 시니어 글자 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Functions (Node)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/request · /plan · /inventory · /book · /stats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Azure OpenAI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조건 정리, 함수 호출로 매칭·코스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시드 JSON (+ Table Storage)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 요청, 터널 칸, 캠핑 43면, 숙소, 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외부 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 TourAPI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우천 대체, 주변 식당·관광지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Actions + Bicep</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심사 기준 대응"/>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심사 기준 대응</a:t>
            </a:r>
            <a:endParaRPr lang="en-US" sz="1150" dirty="0"/>
          </a:p>
        </p:txBody>
      </p:sp>
      <p:graphicFrame>
        <p:nvGraphicFramePr>
          <p:cNvPr id="87" name="Table 1"/>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188720"/>
                <a:gridCol w="310896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보여 줄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데이터로 '머물지 않음'·일손 부족 증명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매칭 로직 + 테스트 + CI/CD</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한마디로 요청·코스·예약 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운영 가치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채움률·재방문 예약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AI 검수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README·기획서↔코드 위치 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가안 3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3</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밤 코스 (가칭)</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옛 터미널 → 옛 기차 터널 → 평일 소싸움장 시네마 → 하룻밤 → 운문사</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새로 짓지 않고, 있던 곳의 빈 시간을 AI가 코스로 묶음 · 2026.10.30 HS 방향 확정</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3 · 개요] </a:t>
            </a:r>
            <a:pPr algn="l" indent="0" marL="0">
              <a:buNone/>
            </a:pPr>
            <a:r>
              <a:rPr lang="en-US" sz="2400" b="1" dirty="0">
                <a:solidFill>
                  <a:srgbClr val="222222"/>
                </a:solidFill>
              </a:rPr>
              <a:t>관광지는 비고, 영화는 상영할 곳이 없다 — 평일 소싸움장이 둘 다 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주최도 보여 주는 답:</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'있던 곳의 새 쓰임'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DAY 2 문화탐방지 와인터널(옛 경부선 터널)·상상마루(옛 버스터미널)가 이미 '있던 곳의 새 쓰임' 사례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관광은 감소: 와인터널 방문 -76%(언론 보도), 레일바이크 -46%, 관광주민증 혜택 이용 1.2%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영화는 상영 공간이 부족: 영화제 지원 56억→28억·40→20곳(2024), 대한극장 2024 폐관 → 평일 빈 돔 1만1천 석에 시사회·소형 영화제 유치</a:t>
            </a:r>
            <a:endParaRPr lang="en-US" sz="1250" dirty="0"/>
          </a:p>
        </p:txBody>
      </p:sp>
      <p:sp>
        <p:nvSpPr>
          <p:cNvPr id="5" name="panel bar 상영 공간·문화시설 문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상영 공간·문화시설 문제</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대구MBC 2023.12.2(영진위 2024 예산), YTN 2024.5.1(대한극장), 매일신문 2026.7.8(유천극장), 세계일보 2026.9.3(3대 문화권)</a:t>
            </a:r>
            <a:endParaRPr lang="en-US" sz="7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463040"/>
                <a:gridCol w="29260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영화제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56억 → 28억, 40곳 → 20곳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지역영화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12억 원 전액 삭감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서울 단관극장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대한극장 폐관(66년 역사)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극장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유천극장 1967 개관 → 1990년대 폐관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 보도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3대 문화권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46곳 중 37곳 적자, 2025 적자 253억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놀고 있는 자원 → 코스"/>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코스</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2025.2.18(소싸움장), 콜뉴스24 2026.9.4(터널·레일바이크), 경북매일 2026.5.28(상상마루)</a:t>
            </a:r>
            <a:endParaRPr lang="en-US" sz="750" dirty="0"/>
          </a:p>
        </p:txBody>
      </p:sp>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17320"/>
                <a:gridCol w="1965960"/>
                <a:gridCol w="2103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비는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새 쓰임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 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월~금 (토·일만 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모래판 시네마·시사회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 4.55만(2025)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'내 칸' 1년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상상마루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2026.5 개장, 다목적홀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도착·짐 보관·관객과의 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객실·캠핑 43면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 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(50% 군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 간 합승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3 · 코스 지도] </a:t>
            </a:r>
            <a:pPr algn="l" indent="0" marL="0">
              <a:buNone/>
            </a:pPr>
            <a:r>
              <a:rPr lang="en-US" sz="2400" b="1" dirty="0">
                <a:solidFill>
                  <a:srgbClr val="222222"/>
                </a:solidFill>
              </a:rPr>
              <a:t>동대구에서 기차 25분, 청도역에서 5곳을 택시 합승으로 잇기</a:t>
            </a:r>
            <a:endParaRPr lang="en-US" sz="2400" dirty="0"/>
          </a:p>
        </p:txBody>
      </p:sp>
      <p:pic>
        <p:nvPicPr>
          <p:cNvPr id="3" name="Image 0" descr="/tmp/claude-0/-home-claude/9fe24995-61ac-5ef1-afdf-127265839e0e/scratchpad/map/inset.png">    </p:cNvPr>
          <p:cNvPicPr>
            <a:picLocks noChangeAspect="1"/>
          </p:cNvPicPr>
          <p:nvPr/>
        </p:nvPicPr>
        <p:blipFill>
          <a:blip r:embed="rId1"/>
          <a:stretch>
            <a:fillRect/>
          </a:stretch>
        </p:blipFill>
        <p:spPr>
          <a:xfrm>
            <a:off x="457200" y="1097280"/>
            <a:ext cx="2331720" cy="2551176"/>
          </a:xfrm>
          <a:prstGeom prst="rect">
            <a:avLst/>
          </a:prstGeom>
        </p:spPr>
      </p:pic>
      <p:sp>
        <p:nvSpPr>
          <p:cNvPr id="4" name="Text 1"/>
          <p:cNvSpPr txBox="1"/>
          <p:nvPr/>
        </p:nvSpPr>
        <p:spPr>
          <a:xfrm>
            <a:off x="457200" y="3703320"/>
            <a:ext cx="2331720" cy="274320"/>
          </a:xfrm>
          <a:prstGeom prst="rect">
            <a:avLst/>
          </a:prstGeom>
          <a:noFill/>
          <a:ln/>
        </p:spPr>
        <p:txBody>
          <a:bodyPr wrap="square" lIns="0" tIns="0" rIns="0" bIns="0" rtlCol="0" anchor="ctr"/>
          <a:lstStyle/>
          <a:p>
            <a:pPr algn="ctr" indent="0" marL="0">
              <a:buNone/>
            </a:pPr>
            <a:r>
              <a:rPr lang="en-US" sz="1000" b="1" dirty="0">
                <a:solidFill>
                  <a:srgbClr val="0B1F4D"/>
                </a:solidFill>
                <a:latin typeface="Pretendard" pitchFamily="34" charset="0"/>
                <a:ea typeface="Pretendard" pitchFamily="34" charset="-122"/>
                <a:cs typeface="Pretendard" pitchFamily="34" charset="-120"/>
              </a:rPr>
              <a:t>대구 → 청도</a:t>
            </a:r>
            <a:endParaRPr lang="en-US" sz="1000" dirty="0"/>
          </a:p>
        </p:txBody>
      </p:sp>
      <p:pic>
        <p:nvPicPr>
          <p:cNvPr id="5" name="Image 1" descr="/tmp/claude-0/-home-claude/9fe24995-61ac-5ef1-afdf-127265839e0e/scratchpad/map/detail.png">    </p:cNvPr>
          <p:cNvPicPr>
            <a:picLocks noChangeAspect="1"/>
          </p:cNvPicPr>
          <p:nvPr/>
        </p:nvPicPr>
        <p:blipFill>
          <a:blip r:embed="rId2"/>
          <a:stretch>
            <a:fillRect/>
          </a:stretch>
        </p:blipFill>
        <p:spPr>
          <a:xfrm>
            <a:off x="2926080" y="1097280"/>
            <a:ext cx="5257800" cy="3054096"/>
          </a:xfrm>
          <a:prstGeom prst="rect">
            <a:avLst/>
          </a:prstGeom>
        </p:spPr>
      </p:pic>
      <p:sp>
        <p:nvSpPr>
          <p:cNvPr id="6" name="Text 2"/>
          <p:cNvSpPr txBox="1"/>
          <p:nvPr/>
        </p:nvSpPr>
        <p:spPr>
          <a:xfrm>
            <a:off x="2926080" y="4206240"/>
            <a:ext cx="5257800" cy="365760"/>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한국관광공사(와인터널·신화랑풍류마을) 좌표, 통계청 행정경계(2013). 상상마루는 청도역 인근 근사 위치</a:t>
            </a:r>
            <a:endParaRPr lang="en-US" sz="750" dirty="0"/>
          </a:p>
        </p:txBody>
      </p:sp>
      <p:sp>
        <p:nvSpPr>
          <p:cNvPr id="7" name="panel bar 1박 2일 코스 (예시)"/>
          <p:cNvSpPr/>
          <p:nvPr/>
        </p:nvSpPr>
        <p:spPr>
          <a:xfrm>
            <a:off x="8412480" y="1097280"/>
            <a:ext cx="3319272" cy="310896"/>
          </a:xfrm>
          <a:prstGeom prst="rect">
            <a:avLst/>
          </a:prstGeom>
          <a:solidFill>
            <a:srgbClr val="EEF1F6"/>
          </a:solidFill>
          <a:ln w="12700">
            <a:solidFill>
              <a:srgbClr val="EEF1F6"/>
            </a:solidFill>
            <a:prstDash val="solid"/>
          </a:ln>
        </p:spPr>
      </p:sp>
      <p:sp>
        <p:nvSpPr>
          <p:cNvPr id="8" name="Text 4"/>
          <p:cNvSpPr txBox="1"/>
          <p:nvPr/>
        </p:nvSpPr>
        <p:spPr>
          <a:xfrm>
            <a:off x="8522208" y="1097280"/>
            <a:ext cx="309981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1박 2일 코스 (예시)</a:t>
            </a:r>
            <a:endParaRPr lang="en-US" sz="1150" dirty="0"/>
          </a:p>
        </p:txBody>
      </p:sp>
      <p:sp>
        <p:nvSpPr>
          <p:cNvPr id="9" name="Text 5"/>
          <p:cNvSpPr txBox="1"/>
          <p:nvPr/>
        </p:nvSpPr>
        <p:spPr>
          <a:xfrm>
            <a:off x="8412480" y="6035040"/>
            <a:ext cx="331927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이동 시간은 직선거리×1.35·시속 40km 추정</a:t>
            </a:r>
            <a:endParaRPr lang="en-US" sz="7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412480" y="1490472"/>
          <a:ext cx="3319272" cy="914400"/>
        </p:xfrm>
        <a:graphic>
          <a:graphicData uri="http://schemas.openxmlformats.org/drawingml/2006/table">
            <a:tbl>
              <a:tblPr/>
              <a:tblGrid>
                <a:gridCol w="777240"/>
                <a:gridCol w="2542032"/>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 · 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① 청도역 도착 → 상상마루 짐 보관·카페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② 와인터널 '내 칸'에 감와인 맡기기 (택시 약 17분)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③ 소싸움장 모래판 시네마 (약 7분)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21:30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④ 신화랑풍류마을 숙박 (합승 약 37분)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다음 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⑤ 운문사 (약 12분) → 청도역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1년 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찾으러 재방문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11" name="panel bar 교통 거점"/>
          <p:cNvSpPr/>
          <p:nvPr/>
        </p:nvSpPr>
        <p:spPr>
          <a:xfrm>
            <a:off x="457200" y="4709160"/>
            <a:ext cx="7726680" cy="310896"/>
          </a:xfrm>
          <a:prstGeom prst="rect">
            <a:avLst/>
          </a:prstGeom>
          <a:solidFill>
            <a:srgbClr val="EEF1F6"/>
          </a:solidFill>
          <a:ln w="12700">
            <a:solidFill>
              <a:srgbClr val="EEF1F6"/>
            </a:solidFill>
            <a:prstDash val="solid"/>
          </a:ln>
        </p:spPr>
      </p:sp>
      <p:sp>
        <p:nvSpPr>
          <p:cNvPr id="12" name="Text 7"/>
          <p:cNvSpPr txBox="1"/>
          <p:nvPr/>
        </p:nvSpPr>
        <p:spPr>
          <a:xfrm>
            <a:off x="566928" y="4709160"/>
            <a:ext cx="7507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교통 거점</a:t>
            </a:r>
            <a:endParaRPr lang="en-US" sz="1150" dirty="0"/>
          </a:p>
        </p:txBody>
      </p:sp>
      <p:graphicFrame>
        <p:nvGraphicFramePr>
          <p:cNvPr id="93" name="Table 1"/>
          <p:cNvGraphicFramePr>
            <a:graphicFrameLocks noGrp="1"/>
          </p:cNvGraphicFramePr>
          <p:nvPr>
            <p:extLst>
              <p:ext uri="{D42A27DB-BD31-4B8C-83A1-F6EECF244321}">
                <p14:modId xmlns:p14="http://schemas.microsoft.com/office/powerpoint/2010/main" val="1579011935"/>
              </p:ext>
            </p:extLst>
          </p:nvPr>
        </p:nvGraphicFramePr>
        <p:xfrm>
          <a:off x="457200" y="5074920"/>
          <a:ext cx="7726680" cy="914400"/>
        </p:xfrm>
        <a:graphic>
          <a:graphicData uri="http://schemas.openxmlformats.org/drawingml/2006/table">
            <a:tbl>
              <a:tblPr/>
              <a:tblGrid>
                <a:gridCol w="2788920"/>
                <a:gridCol w="1737360"/>
                <a:gridCol w="1371600"/>
                <a:gridCol w="1828800"/>
              </a:tblGrid>
              <a:tr h="31089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대천터미널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동곡터미널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풍각정류장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900" dirty="0">
                          <a:solidFill>
                            <a:srgbClr val="222222"/>
                          </a:solidFill>
                          <a:latin typeface="Pretendard" pitchFamily="34" charset="0"/>
                          <a:ea typeface="Pretendard" pitchFamily="34" charset="-122"/>
                          <a:cs typeface="Pretendard" pitchFamily="34" charset="-120"/>
                        </a:rPr>
                        <a:t>기차 동대구 20~33분, 하루 약 20회 ⚠️비공식</a:t>
                      </a:r>
                      <a:endParaRPr lang="en-US" sz="9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22222"/>
                          </a:solidFill>
                          <a:latin typeface="Pretendard" pitchFamily="34" charset="0"/>
                          <a:ea typeface="Pretendard" pitchFamily="34" charset="-122"/>
                          <a:cs typeface="Pretendard" pitchFamily="34" charset="-120"/>
                        </a:rPr>
                        <a:t>운문면 · 신화랑·운문사 쪽</a:t>
                      </a:r>
                      <a:endParaRPr lang="en-US" sz="9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22222"/>
                          </a:solidFill>
                          <a:latin typeface="Pretendard" pitchFamily="34" charset="0"/>
                          <a:ea typeface="Pretendard" pitchFamily="34" charset="-122"/>
                          <a:cs typeface="Pretendard" pitchFamily="34" charset="-120"/>
                        </a:rPr>
                        <a:t>금천면</a:t>
                      </a:r>
                      <a:endParaRPr lang="en-US" sz="9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22222"/>
                          </a:solidFill>
                          <a:latin typeface="Pretendard" pitchFamily="34" charset="0"/>
                          <a:ea typeface="Pretendard" pitchFamily="34" charset="-122"/>
                          <a:cs typeface="Pretendard" pitchFamily="34" charset="-120"/>
                        </a:rPr>
                        <a:t>풍각면 · 서쪽</a:t>
                      </a:r>
                      <a:endParaRPr lang="en-US" sz="9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3 · 화면과 숙소 계획] </a:t>
            </a:r>
            <a:pPr algn="l" indent="0" marL="0">
              <a:buNone/>
            </a:pPr>
            <a:r>
              <a:rPr lang="en-US" sz="2400" b="1" dirty="0">
                <a:solidFill>
                  <a:srgbClr val="222222"/>
                </a:solidFill>
              </a:rPr>
              <a:t>화면 3개로 시연 — 시네마 좌석 · 예약 완료 · 1년 뒤 알림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시안 중 고른 화면을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하나의 코스로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B② 빈자리 고르기 → 소싸움장 관람석 좌석 고르기로 (AI가 정면·출구 가까운 자리 추천)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A③ 예약 완료 → QR 한 장으로 택시·터널·시네마·숙소 네 곳 입장</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C③ 1년 뒤 알림 → 감와인이 익으면 '그 주 개봉작 시사회' 날짜와 함께 재방문 코스 제안</a:t>
            </a:r>
            <a:endParaRPr lang="en-US" sz="1250" dirty="0"/>
          </a:p>
        </p:txBody>
      </p:sp>
      <p:sp>
        <p:nvSpPr>
          <p:cNvPr id="5" name="panel bar 데모 화면 (화면 시안 캔버스 '최종안' 줄)"/>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데모 화면 (화면 시안 캔버스 '최종안' 줄)</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청도의 빈자리 화면 시안 (A·B·C안) 캔버스</a:t>
            </a:r>
            <a:endParaRPr lang="en-US" sz="7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463040"/>
                <a:gridCol w="3108960"/>
                <a:gridCol w="1737360"/>
              </a:tblGrid>
              <a:tr h="54864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보여 주는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AI가 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4864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① 시네마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C구역 좌석, 개봉작·시사회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자리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② 예약 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4곳 시간표 + QR 한 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동선·합승 묶기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③ 1년 뒤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숙성 소식, 재방문 날짜 3개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날짜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운영자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채움률·재방문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 예보 시 일정 조정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숙소 단계 계획 (추가 계획)"/>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숙소 단계 계획 (추가 계획)</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한국관광공사(신화랑풍류마을), 경북매일 2026.10.20(금천고), 아주경제 2024.11.20(빈집)</a:t>
            </a:r>
            <a:endParaRPr lang="en-US" sz="750" dirty="0"/>
          </a:p>
        </p:txBody>
      </p:sp>
      <p:graphicFrame>
        <p:nvGraphicFramePr>
          <p:cNvPr id="95"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143000"/>
                <a:gridCol w="2468880"/>
                <a:gridCol w="1051560"/>
              </a:tblGrid>
              <a:tr h="54864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1단계 (지금)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한옥·오토캠핑장 43면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2단계 (2027~)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금천고 2027.3 폐교 → 단체 숙소 검토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2단계 (2027~)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1등급 빈집 151호 → 민박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평일 대관·상영 허가, 청도 상설 영화관 유무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2026.5.26·2026.10.7(생활인구, 링크 재확인), 청도군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 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지형지물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2023.6.22·2024.8.7(소싸움장), 경북매일 2026.9.22(신화랑)·2026.7.31(운문댐)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신화랑풍류마을, 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3-2] </a:t>
            </a:r>
            <a:pPr algn="l" indent="0" marL="0">
              <a:buNone/>
            </a:pPr>
            <a:r>
              <a:rPr lang="en-US" sz="2400" b="1" dirty="0">
                <a:solidFill>
                  <a:srgbClr val="222222"/>
                </a:solidFill>
              </a:rPr>
              <a:t>출처 — 추가 데이터·군 정책 (2026.10.28 조사)</a:t>
            </a:r>
            <a:endParaRPr lang="en-US" sz="24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7132320"/>
                <a:gridCol w="2953512"/>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페이지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콜뉴스24 2026.9.4(군 의회 제출 자료), 헤럴드경제 2026.1.20, 글로벌이코노믹 2026.10.20, 위키트리 2024.12.26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와인터널·레일바이크·축제·방문인구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뉴스스페이스 2026.1.19, 경북일보 2025.2.18, 매일신문 2024.8.7(관람석 1만1,845석 — 기사마다 다름)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규모·방문객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2026.10.1, 경북일보 2026.3.20, 대구일보 2026.8.26·8.12, 경북매일 2026.9.29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감·복숭아·미나리·수출·귀농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시사저널 2026.6.23, 경북일보 2026.10.11, 에너지경제 2026.2.24, 시사뉴스 2026.7.7, 더파워 2026.6.22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노인일자리·치매·통합돌봄·스마트경로당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2024.11.20·2026.8.28, 청도교육지원청(2026.9.1), 경북매일 2025.2.10, 농식품부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빈집·학교·출생·전입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경북일보 2024.10.3, 대구일보 2025.12.22, 브레이크뉴스 2026.1.12, 헤럴드경제 2026.7.14, 경북매일 2026.8.3·6.8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재정·공모사업·가뭄·쉼터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2026.5.26·9.16·2025.12.23, 세계일보 2026.3.5, 헤럴드경제 2026.1.18·2025.10.20, 메트로신문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관광주민증·반값여행·축제·빈집재생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2026.10.14·10.7·10.8, 아주경제 2026.6.19, 경북매일 2026.7.20, 매일신문 2024.3.20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유통·계절근로자·돌봄·의료·환승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2026-10-30T07:51:12Z</dcterms:created>
  <dcterms:modified xsi:type="dcterms:W3CDTF">2026-10-30T07:51:12Z</dcterms:modified>
</cp:coreProperties>
</file>