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7e1952d8-f122-f36c-643c-782e3fd3b95c}">
          <p14:sldIdLst>
            <p14:sldId id="256"/>
          </p14:sldIdLst>
        </p14:section>
        <p14:section name="팀 운영" id="{48a8b9cb-5fd7-ad01-23df-5ebbd6327f29}">
          <p14:sldIdLst>
            <p14:sldId id="257"/>
            <p14:sldId id="258"/>
            <p14:sldId id="259"/>
            <p14:sldId id="260"/>
            <p14:sldId id="261"/>
            <p14:sldId id="262"/>
          </p14:sldIdLst>
        </p14:section>
        <p14:section name="청도 데이터" id="{b6abd4d7-0a77-d484-0c1f-9ced3b0d5d08}">
          <p14:sldIdLst>
            <p14:sldId id="263"/>
            <p14:sldId id="264"/>
            <p14:sldId id="265"/>
            <p14:sldId id="266"/>
            <p14:sldId id="267"/>
            <p14:sldId id="268"/>
            <p14:sldId id="269"/>
            <p14:sldId id="270"/>
            <p14:sldId id="271"/>
            <p14:sldId id="272"/>
            <p14:sldId id="273"/>
            <p14:sldId id="274"/>
            <p14:sldId id="275"/>
            <p14:sldId id="276"/>
          </p14:sldIdLst>
        </p14:section>
        <p14:section name="아이디어" id="{80094429-3edb-4073-6160-1ff152df653d}">
          <p14:sldIdLst>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부록" id="{1d5fb773-0a58-bee5-b621-002065e9b748}">
          <p14:sldIdLst>
            <p14:sldId id="296"/>
            <p14:sldId id="297"/>
            <p14:sldId id="298"/>
            <p14:sldId id="299"/>
            <p14:sldId id="300"/>
            <p14:sldId id="301"/>
          </p14:sldIdLst>
        </p14:section>
        <p14:section name="마무리" id="{b642bd93-5b48-fb60-68fd-bbf39c4ce141}">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대상작이 카센터의 남는 전기를 썼다면, 우리는 농가 저온저장고의 비는 달을 씁니다. 청도는 감, 복숭아, 미나리, 딸기의 수확 시기가 서로 달라서 한 작물 저장고는 1년 중 몇 달씩 비어 있습니다. 앱은 비는 저장고와 저장이 필요한 농가를 이어 주고, 주인은 임대료를 받습니다. 청도 저장고 수는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외국인 계절근로자는 3년 만에 84명에서 450명으로 늘었습니다. 군은 80명 규모 기숙사를 새로 지을 계획이지만 나머지 370명의 숙소는 여전히 농가가 마련해야 합니다. 반면 바로 쓸 수 있는 1등급 빈집이 151호 있습니다. 새로 짓기 전에 있는 집부터 쓰자는 것이고, 앱은 빈집과 농가, 근로자를 짝지어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2는 반나절 청도입니다. 청도에는 하루 1만 2천 명이 오지만 오후 서너 시면 떠납니다. 반대로 감 농가 5천5백 곳은 수확철 일손이 모자랍니다. AI가 이 둘을 짝지어 반나절 감 따기로 연결하고, 보상으로 와인터널에 내 감와인을 맡겨 1년 뒤 다시 오게 만듭니다. 지난 대상작처럼 놀고 있는 자원과 부족한 것을 잇는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체험 프로그램이 아니라 빈자리를 채우는 엔진입니다. 평일에 비는 농가 일손, 터널 칸, 캠핑장, 빈집, 택시 좌석을 실시간으로 모아서 방문객 일정에 맞게 AI가 묶어 줍니다. 항공사가 빈 좌석을 채우는 방식과 같고, 효도택시는 이 엔진의 이동 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3.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환경·재정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1·2   3. 가안 1 · 청도효도택시   4. 가안 2 · 반나절 청도</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3-1 · 민간 자원] </a:t>
            </a:r>
            <a:pPr algn="l" indent="0" marL="0">
              <a:buNone/>
            </a:pPr>
            <a:r>
              <a:rPr lang="en-US" sz="2400" b="1" dirty="0">
                <a:solidFill>
                  <a:srgbClr val="222222"/>
                </a:solidFill>
              </a:rPr>
              <a:t>농가 저온저장고 — 작물마다 비는 달이 다르다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남의 저장고가 비는 달에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내 작물을 넣는다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저장고가 없으면 수확 즉시 한꺼번에 출하 → 출하가 몰려 값이 떨어짐 (지자체들이 저장고 보조를 하는 이유)</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청도는 미나리·딸기·복숭아·감의 수확 시기가 엇갈림 → 한 작물 저장고는 1년 중 몇 달씩 빔</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앱: 저장고 주인은 빈 기간·온도 등록, 농가는 작물·물량 입력 → AI가 맞는 저장고·기간 연결, 주인은 임대료</a:t>
            </a:r>
            <a:endParaRPr lang="en-US" sz="1250" dirty="0"/>
          </a:p>
        </p:txBody>
      </p:sp>
      <p:sp>
        <p:nvSpPr>
          <p:cNvPr id="5" name="panel bar 청도 주요 작물 — 언제 저장고가 필요한가"/>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주요 작물 — 언제 저장고가 필요한가</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2026.8.26(재배 규모) · 출하 시기는 일반적 시기, 청도 농가 확인 필요</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234440"/>
                <a:gridCol w="2743200"/>
                <a:gridCol w="2331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작물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 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 출하·저장 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감(반시)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5,589농가 · 28,143t · 1,032억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9~1월 (홍시·저장)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4,781농가 · 12,327t · 550억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6~9월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딸기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180여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12~5월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 빈 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감 저장고는 봄·여름이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복숭아 저장고는 가을·겨울이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근거와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근거와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예산군 보도(뉴스서울), 산청군 보도(메트로신문 2024.2.7), 한국농촌경제연구원 떫은감 관측 2022.10</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저장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보조 목적 = 출하 집중에 따른 가격 하락 방지 (예산군)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보급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소형 저온저장고 보조 50%·최대 500만 원(산청군 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가격 변동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반시 산지가격 전년 대비 +29.2%(2022.9) → 시기 조절 가치 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농가 저온저장고 수·보조 실적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작물 간 온도 차(감 0℃ 안팎 / 채소 다름), 냄새 섞임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3-2 · 민간 자원] </a:t>
            </a:r>
            <a:pPr algn="l" indent="0" marL="0">
              <a:buNone/>
            </a:pPr>
            <a:r>
              <a:rPr lang="en-US" sz="2400" b="1" dirty="0">
                <a:solidFill>
                  <a:srgbClr val="222222"/>
                </a:solidFill>
              </a:rPr>
              <a:t>빈집 × 계절근로자 숙소 — 짓기 전에 있는 집부터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근로자는 5배로 느는데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기숙사는 80명분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84명(2023) → 450명(2026), 숙소는 농가가 각자 마련하는 구조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군은 화양읍 삼신리에 약 80명 기숙사 신축 계획 → 나머지 약 370명은 여전히 농가 몫</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바로 쓸 수 있는 1등급 빈집 151호 → 앱이 빈집·농가·근로자를 거리·인원으로 짝짓고, 집주인은 임대료 + 집 관리</a:t>
            </a:r>
            <a:endParaRPr lang="en-US" sz="1250" dirty="0"/>
          </a:p>
        </p:txBody>
      </p:sp>
      <p:sp>
        <p:nvSpPr>
          <p:cNvPr id="5" name="panel bar 숫자로 보는 숙소 공백"/>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숫자로 보는 숙소 공백</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2026.10.7(근로자), 경북매일 2025.4.21(기숙사), 아주경제 2024.11.20·공공데이터포털(빈집)</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17320"/>
                <a:gridCol w="278892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84명(19농가) → 450명(127농가)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2023→2026, 5.4배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기숙사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80명 · 28실 · 4층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국비 12억, 신축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남는 수요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370명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450 − 80, 농가가 마련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502호 (1등급 151 · 2등급 321)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 바로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다른 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문경 기숙사 27실 · 58명 신축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다들 '짓는'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왜 빈집인가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왜 빈집인가 /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비즈한국 2021.2.25(고용노동부 실태조사 3,850명), 경북매일 2026.4.22(문경)</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현실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농·어업 외국인 근로자 69.6%가 가설건축물(컨테이너·패널·비닐하우스) 거주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규제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2021년부터 불법 가설건축물 숙소 제공 시 고용허가 불허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장점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일반주택 = 기준 충족 쉬움, 새로 안 지음, 빈집 관리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1등급 빈집 중 임대 의향 있는 집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계절근로 숙소 현행 기준(2021 이후 변경)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반나절 청도 (가안 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일손 요청 · AI 짝짓기 · 예약·합승 · 보상 QR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정리 · 방문객-농가 매칭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 기상청, 캠핑장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반나절 청도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오후 3시에 떠나는 관광객의 반나절 × 일손 모자란 감 농가</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청도의 빈자리, AI가 채웁니다 · 주제 '청도에서 이게 되네?' 맞춤</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오후 3시에 떠나는 관광객의 반나절 × 일손 모자란 감 농가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오는데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시간·돈이 남지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문제: 하루 1.25만 명이 오지만 오후 2~3시가 정점, 관광주민증 혜택 이용 1.2% → 청도에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동시에 감 농가 5,589곳은 수확철 일손을 외국인 계절근로자 450명에 의존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서비스: AI가 오늘 일손이 필요한 농가와 일정이 비는 방문객을 짝지음 → 반나절 감 따기 → 보상으로 터널 '내 칸' 감와인 + 하룻밤 숙박 → 1년 뒤 재방문</a:t>
            </a:r>
            <a:endParaRPr lang="en-US" sz="1250" dirty="0"/>
          </a:p>
        </p:txBody>
      </p:sp>
      <p:sp>
        <p:nvSpPr>
          <p:cNvPr id="5" name="panel bar 지난 대상작과 같은 공식"/>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지난 대상작과 같은 공식</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DEPS·2024 나누리 팀 회고, 청도 데이터 2·3·5(부록 3·3-2 출처)</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188720"/>
                <a:gridCol w="2377440"/>
                <a:gridCol w="21945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2026 우리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오후 3시에 떠나는 방문객의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수확철 감 농가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9" name="Text 6"/>
          <p:cNvSpPr txBox="1"/>
          <p:nvPr/>
        </p:nvSpPr>
        <p:spPr>
          <a:xfrm>
            <a:off x="457200" y="5440680"/>
            <a:ext cx="5760720" cy="411480"/>
          </a:xfrm>
          <a:prstGeom prst="rect">
            <a:avLst/>
          </a:prstGeom>
          <a:noFill/>
          <a:ln/>
        </p:spPr>
        <p:txBody>
          <a:bodyPr wrap="square" lIns="0" tIns="0" rIns="0" bIns="0" rtlCol="0" anchor="ctr"/>
          <a:lstStyle/>
          <a:p>
            <a:pPr indent="0" marL="0">
              <a:buNone/>
            </a:pPr>
            <a:r>
              <a:rPr lang="en-US" sz="1050" b="1" dirty="0">
                <a:solidFill>
                  <a:srgbClr val="00358F"/>
                </a:solidFill>
                <a:latin typeface="Pretendard" pitchFamily="34" charset="0"/>
                <a:ea typeface="Pretendard" pitchFamily="34" charset="-122"/>
                <a:cs typeface="Pretendard" pitchFamily="34" charset="-120"/>
              </a:rPr>
              <a:t>차별점  </a:t>
            </a:r>
            <a:pPr indent="0" marL="0">
              <a:buNone/>
            </a:pPr>
            <a:r>
              <a:rPr lang="en-US" sz="1050" dirty="0">
                <a:solidFill>
                  <a:srgbClr val="222222"/>
                </a:solidFill>
                <a:latin typeface="Pretendard" pitchFamily="34" charset="0"/>
                <a:ea typeface="Pretendard" pitchFamily="34" charset="-122"/>
                <a:cs typeface="Pretendard" pitchFamily="34" charset="-120"/>
              </a:rPr>
              <a:t>나누리는 '농산물'을 나눔, 우리는 '사람의 남는 시간'을 일손·체류로 바꿈</a:t>
            </a:r>
            <a:endParaRPr lang="en-US" sz="1050" dirty="0"/>
          </a:p>
        </p:txBody>
      </p:sp>
      <p:sp>
        <p:nvSpPr>
          <p:cNvPr id="10" name="panel bar 근거 숫자"/>
          <p:cNvSpPr/>
          <p:nvPr/>
        </p:nvSpPr>
        <p:spPr>
          <a:xfrm>
            <a:off x="6519672" y="2697480"/>
            <a:ext cx="5212080" cy="310896"/>
          </a:xfrm>
          <a:prstGeom prst="rect">
            <a:avLst/>
          </a:prstGeom>
          <a:solidFill>
            <a:srgbClr val="EEF1F6"/>
          </a:solidFill>
          <a:ln w="12700">
            <a:solidFill>
              <a:srgbClr val="EEF1F6"/>
            </a:solidFill>
            <a:prstDash val="solid"/>
          </a:ln>
        </p:spPr>
      </p:sp>
      <p:sp>
        <p:nvSpPr>
          <p:cNvPr id="11" name="Text 8"/>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 숫자</a:t>
            </a:r>
            <a:endParaRPr lang="en-US" sz="1150" dirty="0"/>
          </a:p>
        </p:txBody>
      </p:sp>
      <p:sp>
        <p:nvSpPr>
          <p:cNvPr id="12" name="Text 9"/>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위키트리 2024.12.26, 경북매일 2026.5.26, 아주경제 2026.10.1, 매일신문 2026.10.8, 콜뉴스24 2026.9.4, 한국관광공사</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645920"/>
                <a:gridCol w="3566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9.9만 건 발급, 혜택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5,589곳, 조수입 1,032억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계절근로자 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평일 숙박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오토캠핑장 43면, 활용 가능 빈집 151호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빈자리 엔진] </a:t>
            </a:r>
            <a:pPr algn="l" indent="0" marL="0">
              <a:buNone/>
            </a:pPr>
            <a:r>
              <a:rPr lang="en-US" sz="2400" b="1" dirty="0">
                <a:solidFill>
                  <a:srgbClr val="222222"/>
                </a:solidFill>
              </a:rPr>
              <a:t>체험 프로그램이 아니라 '청도의 빈자리, AI가 채웁니다'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자리(일손 요청·터널 칸·캠핑·빈집·택시 좌석)를 실시간으로 모아, 방문객 일정에 맞게 AI가 묶어 팖</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 후 둘, 차 없음" 한마디 → 날짜·인원·조건으로 정리 → 빈자리 조회 → 1박 코스와 예약까지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효도택시는 이 엔진의 '이동' 칸 — 주제가 바뀌어도 빈자리 종류만 바꿔 끼우면 됨</a:t>
            </a:r>
            <a:endParaRPr lang="en-US" sz="1250" dirty="0"/>
          </a:p>
        </p:txBody>
      </p:sp>
      <p:sp>
        <p:nvSpPr>
          <p:cNvPr id="5" name="panel bar 엔진이 채우는 빈자리"/>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 데이터 3·4·5(부록 3·3-2 출처), 한국관광공사(오토캠핑장)</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1645920"/>
                <a:gridCol w="2651760"/>
                <a:gridCol w="237744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 종류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얼마나 비나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엔진에서의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농가 일손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 외국인 450명 의존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간판 — 방문객 반나절과 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보상·재방문 (1년 뒤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오토캠핑장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43면, 평일 이용률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활용 가능 151호 (제안)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대체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35명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이동 — 효도택시 합승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주제가 바뀌면 빈자리만 교체"/>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주제가 바뀌면 빈자리만 교체</a:t>
            </a:r>
            <a:endParaRPr lang="en-US" sz="11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371600"/>
                <a:gridCol w="29260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당일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간판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관광·체류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칸 · 캠핑 ·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농업·일손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일손 요청 (지금 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좌석 → 가안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돌봄·복지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 통합돌봄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흐름·화면] </a:t>
            </a:r>
            <a:pPr algn="l" indent="0" marL="0">
              <a:buNone/>
            </a:pPr>
            <a:r>
              <a:rPr lang="en-US" sz="2400" b="1" dirty="0">
                <a:solidFill>
                  <a:srgbClr val="222222"/>
                </a:solidFill>
              </a:rPr>
              <a:t>농가는 말로 요청, 방문객은 한 번에 예약 — 화면 5개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농가 · 방문객 · 운영자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세 사람이 쓰는 웹</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농가 어르신은 사투리로 "내일 오전 감 따는 데 세 명"만 말하면 AI가 요청서로 정리(효도택시 해석 엔진)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방문객은 일정만 말하면 AI가 맞는 농가·이동·보상·숙박을 한 코스로 묶어 제안</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운영자(군·농협)는 연결 건수·일손 시간·평일 채움률·재방문 예약을 한 화면에서 확인</a:t>
            </a:r>
            <a:endParaRPr lang="en-US" sz="1250" dirty="0"/>
          </a:p>
        </p:txBody>
      </p:sp>
      <p:sp>
        <p:nvSpPr>
          <p:cNvPr id="5" name="panel bar 서비스 흐름"/>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서비스 흐름</a:t>
            </a:r>
            <a:endParaRPr lang="en-US" sz="11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914400"/>
                <a:gridCol w="3474720"/>
                <a:gridCol w="13716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①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일손 요청 → AI가 날짜·시간·인원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짝짓기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AI가 일정 비는 방문객과 농가를 매칭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차 없는 사람끼리 관광택시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④ 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한 병을 터널 '내 칸'에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 빈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⑤ 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캠핑장·빈집 숙소 예약(비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 43면·빈집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⑥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1년 뒤 '와인 찾으러 오세요'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화면 5개 (휴대폰 웹)"/>
          <p:cNvSpPr/>
          <p:nvPr/>
        </p:nvSpPr>
        <p:spPr>
          <a:xfrm>
            <a:off x="6519672" y="2697480"/>
            <a:ext cx="5212080" cy="310896"/>
          </a:xfrm>
          <a:prstGeom prst="rect">
            <a:avLst/>
          </a:prstGeom>
          <a:solidFill>
            <a:srgbClr val="EEF1F6"/>
          </a:solidFill>
          <a:ln w="12700">
            <a:solidFill>
              <a:srgbClr val="EEF1F6"/>
            </a:solidFill>
            <a:prstDash val="solid"/>
          </a:ln>
        </p:spPr>
      </p:sp>
      <p:sp>
        <p:nvSpPr>
          <p:cNvPr id="9" name="Text 6"/>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화면 5개 (휴대폰 웹)</a:t>
            </a:r>
            <a:endParaRPr lang="en-US" sz="1150" dirty="0"/>
          </a:p>
        </p:txBody>
      </p:sp>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914400"/>
                <a:gridCol w="292608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핵심 요소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말로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마이크 버튼, 정리된 요청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일정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오후, 둘, 차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AI 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따기 → 터널 → 숙박 타임라인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내 티켓</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터널 칸 번호, 1년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군·농협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연결 건수, 평일 채움률,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조건으로 정리하고(JSON), 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효도택시의 사투리 해석·합승 묶기 엔진을 재사용 → 새로 짤 부분은 매칭·보상·운영 화면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캠핑장 평일 이용률, 터널 개인 보관, 빈집 숙소(다로리 마을호텔 2027 예정), 관광객 농작업 보험</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공공데이터포털·기상청·한국관광공사 API</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5개, 휴대폰 웹, 시니어 글자 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/request · /plan · /inventory · /book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매칭·코스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요청, 터널 칸, 캠핑 43면,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우천 대체, 주변 식당·관광지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데이터로 '머물지 않음'·일손 부족 증명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매칭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한마디로 요청·코스·예약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2026-10-30T07:28:53Z</dcterms:created>
  <dcterms:modified xsi:type="dcterms:W3CDTF">2026-10-30T07:28:53Z</dcterms:modified>
</cp:coreProperties>
</file>