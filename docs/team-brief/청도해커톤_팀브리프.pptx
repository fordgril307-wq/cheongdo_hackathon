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3.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f705ec8d-7ed6-4892-0f45-403678173945}">
          <p14:sldIdLst>
            <p14:sldId id="256"/>
          </p14:sldIdLst>
        </p14:section>
        <p14:section name="팀 운영" id="{8009d4cc-950c-9d23-2706-12036d71135c}">
          <p14:sldIdLst>
            <p14:sldId id="257"/>
            <p14:sldId id="258"/>
            <p14:sldId id="259"/>
            <p14:sldId id="260"/>
            <p14:sldId id="261"/>
            <p14:sldId id="262"/>
          </p14:sldIdLst>
        </p14:section>
        <p14:section name="청도 데이터" id="{718bdb22-36c1-aa09-312a-d0bfafb1ee57}">
          <p14:sldIdLst>
            <p14:sldId id="263"/>
            <p14:sldId id="264"/>
            <p14:sldId id="265"/>
            <p14:sldId id="266"/>
            <p14:sldId id="267"/>
            <p14:sldId id="268"/>
            <p14:sldId id="269"/>
            <p14:sldId id="270"/>
            <p14:sldId id="271"/>
            <p14:sldId id="272"/>
            <p14:sldId id="273"/>
            <p14:sldId id="274"/>
            <p14:sldId id="275"/>
            <p14:sldId id="276"/>
          </p14:sldIdLst>
        </p14:section>
        <p14:section name="아이디어" id="{42a356b2-7df3-882e-25d1-922d4b4d2fe9}">
          <p14:sldIdLst>
            <p14:sldId id="277"/>
            <p14:sldId id="278"/>
            <p14:sldId id="279"/>
            <p14:sldId id="280"/>
            <p14:sldId id="281"/>
            <p14:sldId id="282"/>
            <p14:sldId id="283"/>
            <p14:sldId id="284"/>
            <p14:sldId id="285"/>
            <p14:sldId id="286"/>
          </p14:sldIdLst>
        </p14:section>
        <p14:section name="부록" id="{4b8a6c2c-c370-8040-49fe-7fe05c294098}">
          <p14:sldIdLst>
            <p14:sldId id="287"/>
            <p14:sldId id="288"/>
            <p14:sldId id="289"/>
            <p14:sldId id="290"/>
            <p14:sldId id="291"/>
            <p14:sldId id="292"/>
          </p14:sldIdLst>
        </p14:section>
        <p14:section name="마무리" id="{0ed10581-eaec-7f28-4778-118ddd463af9}">
          <p14:sldIdLst>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19</c:v>
                </c:pt>
                <c:pt idx="1">
                  <c:v>13</c:v>
                </c:pt>
                <c:pt idx="2">
                  <c:v>8</c:v>
                </c:pt>
                <c:pt idx="3">
                  <c:v>5.5</c:v>
                </c:pt>
                <c:pt idx="4">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Sheet1!$C$2:$C$6</c:f>
              <c:numCache>
                <c:formatCode>General</c:formatCode>
                <c:ptCount val="5"/>
                <c:pt idx="0">
                  <c:v>0</c:v>
                </c:pt>
                <c:pt idx="1">
                  <c:v>0</c:v>
                </c:pt>
                <c:pt idx="2">
                  <c:v>0</c:v>
                </c:pt>
                <c:pt idx="3">
                  <c:v>0</c:v>
                </c:pt>
                <c:pt idx="4">
                  <c:v>4.55</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경기</c:v>
                </c:pt>
              </c:strCache>
            </c:strRef>
          </c:tx>
          <c:spPr>
            <a:solidFill>
              <a:srgbClr val="B5BAC2"/>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Sheet1!$B$2:$B$3</c:f>
              <c:numCache>
                <c:formatCode>General</c:formatCode>
                <c:ptCount val="2"/>
                <c:pt idx="0">
                  <c:v>2</c:v>
                </c:pt>
                <c:pt idx="1">
                  <c:v>0</c:v>
                </c:pt>
              </c:numCache>
            </c:numRef>
          </c:val>
        </c:ser>
        <c:ser>
          <c:idx val="1"/>
          <c:order val="1"/>
          <c:tx>
            <c:strRef>
              <c:f>Sheet1!$C$1</c:f>
              <c:strCache>
                <c:ptCount val="1"/>
                <c:pt idx="0">
                  <c:v>빔</c:v>
                </c:pt>
              </c:strCache>
            </c:strRef>
          </c:tx>
          <c:spPr>
            <a:solidFill>
              <a:srgbClr val="FF8200"/>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Sheet1!$C$2:$C$3</c:f>
              <c:numCache>
                <c:formatCode>General</c:formatCode>
                <c:ptCount val="2"/>
                <c:pt idx="0">
                  <c:v>0</c:v>
                </c:pt>
                <c:pt idx="1">
                  <c:v>5</c:v>
                </c:pt>
              </c:numCache>
            </c:numRef>
          </c:val>
        </c:ser>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감</c:v>
                </c:pt>
              </c:strCache>
            </c:strRef>
          </c:tx>
          <c:spPr>
            <a:solidFill>
              <a:srgbClr val="FF8200"/>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Sheet1!$B$2:$B$5</c:f>
              <c:numCache>
                <c:formatCode>General</c:formatCode>
                <c:ptCount val="4"/>
                <c:pt idx="0">
                  <c:v>5589</c:v>
                </c:pt>
                <c:pt idx="1">
                  <c:v>0</c:v>
                </c:pt>
                <c:pt idx="2">
                  <c:v>0</c:v>
                </c:pt>
                <c:pt idx="3">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Sheet1!$C$2:$C$5</c:f>
              <c:numCache>
                <c:formatCode>General</c:formatCode>
                <c:ptCount val="4"/>
                <c:pt idx="0">
                  <c:v>0</c:v>
                </c:pt>
                <c:pt idx="1">
                  <c:v>4781</c:v>
                </c:pt>
                <c:pt idx="2">
                  <c:v>490</c:v>
                </c:pt>
                <c:pt idx="3">
                  <c:v>180</c:v>
                </c:pt>
              </c:numCache>
            </c:numRef>
          </c:val>
        </c:ser>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80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7월</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Sheet1!$B$2:$B$3</c:f>
              <c:numCache>
                <c:formatCode>General</c:formatCode>
                <c:ptCount val="2"/>
                <c:pt idx="0">
                  <c:v>139</c:v>
                </c:pt>
                <c:pt idx="1">
                  <c:v>0</c:v>
                </c:pt>
              </c:numCache>
            </c:numRef>
          </c:val>
        </c:ser>
        <c:ser>
          <c:idx val="1"/>
          <c:order val="1"/>
          <c:tx>
            <c:strRef>
              <c:f>Sheet1!$C$1</c:f>
              <c:strCache>
                <c:ptCount val="1"/>
                <c:pt idx="0">
                  <c:v>10월</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Sheet1!$C$2:$C$3</c:f>
              <c:numCache>
                <c:formatCode>General</c:formatCode>
                <c:ptCount val="2"/>
                <c:pt idx="0">
                  <c:v>0</c:v>
                </c:pt>
                <c:pt idx="1">
                  <c:v>302</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34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1등급</c:v>
                </c:pt>
              </c:strCache>
            </c:strRef>
          </c:tx>
          <c:spPr>
            <a:solidFill>
              <a:srgbClr val="FF8200"/>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Sheet1!$B$2:$B$4</c:f>
              <c:numCache>
                <c:formatCode>General</c:formatCode>
                <c:ptCount val="3"/>
                <c:pt idx="0">
                  <c:v>151</c:v>
                </c:pt>
                <c:pt idx="1">
                  <c:v>0</c:v>
                </c:pt>
                <c:pt idx="2">
                  <c:v>0</c:v>
                </c:pt>
              </c:numCache>
            </c:numRef>
          </c:val>
        </c:ser>
        <c:ser>
          <c:idx val="1"/>
          <c:order val="1"/>
          <c:tx>
            <c:strRef>
              <c:f>Sheet1!$C$1</c:f>
              <c:strCache>
                <c:ptCount val="1"/>
                <c:pt idx="0">
                  <c:v>기타</c:v>
                </c:pt>
              </c:strCache>
            </c:strRef>
          </c:tx>
          <c:spPr>
            <a:solidFill>
              <a:srgbClr val="B5BAC2"/>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Sheet1!$C$2:$C$4</c:f>
              <c:numCache>
                <c:formatCode>General</c:formatCode>
                <c:ptCount val="3"/>
                <c:pt idx="0">
                  <c:v>0</c:v>
                </c:pt>
                <c:pt idx="1">
                  <c:v>321</c:v>
                </c:pt>
                <c:pt idx="2">
                  <c:v>30</c:v>
                </c:pt>
              </c:numCache>
            </c:numRef>
          </c:val>
        </c:ser>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757</c:v>
                </c:pt>
                <c:pt idx="1">
                  <c:v>1373</c:v>
                </c:pt>
                <c:pt idx="2">
                  <c:v>1566</c:v>
                </c:pt>
                <c:pt idx="3">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Sheet1!$C$2:$C$5</c:f>
              <c:numCache>
                <c:formatCode>General</c:formatCode>
                <c:ptCount val="4"/>
                <c:pt idx="0">
                  <c:v>0</c:v>
                </c:pt>
                <c:pt idx="1">
                  <c:v>0</c:v>
                </c:pt>
                <c:pt idx="2">
                  <c:v>0</c:v>
                </c:pt>
                <c:pt idx="3">
                  <c:v>2260</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청도는 생활인구가 34만 명으로 주민의 8.6배지만, 관광주민증 혜택을 실제로 쓴 건 1.2%뿐입니다. 사람은 오는데 머물지 않고 다시 오지 않는 게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청도의 대표 관광시설은 이용객이 줄고 있습니다. 와인터널은 4년 새 76%, 레일바이크는 46% 줄었고, 반시축제 방문객도 줄었습니다. 있는 시설을 다시 살릴 아이디어가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청도에는 청도에만 있는 장소가 있습니다. 소싸움경기장은 1만 1천 석인데 경기는 토요일과 일요일만 열려 평일 닷새가 비어 있고, 와인터널은 옛 기차 터널을 와인 저장고로 바꾼 선례입니다.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청도에만 있는 장소를 다시 쓰는 아이디어입니다. 가장 추천하는 건 상설 소싸움경기장입니다. 경기는 토요일과 일요일만 열려서 평일 닷새는 1만 1천 석짜리 경기장이 비어 있습니다. 이 평일에 싱그린 농산물 직거래 장터와 택배 출고 거점으로 쓰면, 청도를 다녀간 생활인구를 단골로 만드는 장소가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소싸움경기장은 토요일과 일요일만 경기가 있어서 평일 닷새는 1만 1천 석이 비어 있습니다. 가장 추천하는 건 평일 밤 드라이브인 극장과 차박을 묶는 안입니다. 청도는 사람은 오는데 머물지 않는 게 문제라, 밤 일정을 만들어 체류를 늘리는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장소를 뒤집는 아이디어 세 가지입니다. 소싸움장은 평일 밤 영화관과 차박장으로, 와인터널은 1년 뒤 찾으러 와야 하는 내 와인 보관함으로, 신화랑풍류마을은 평일 워케이션으로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장소를 앱 하나로 묶은 청도 밤마실입니다. 청도는 생활인구가 34만 명인데 관광주민증 혜택 이용은 1.2%뿐입니다. 오후엔 화랑마을, 저녁엔 와인터널에 내 와인을 맡기고, 밤엔 소싸움장에서 영화를 보고 차박합니다. 1년 뒤 와인을 찾으러 다시 오게 만드는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3.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청도 데이터 · 아이디어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청도 데이터</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인구 · 관광 · 장소 · 농업 · 일손 · 돌봄 · 빈집·학교 · 환경·재정 · 의료 · 이동 · 군 정책</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예비 아이디어에 쓰는 장소·문제 데이터를 앞에, 효도택시(의료·이동) 데이터를 뒤에 배치</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 · 인구] </a:t>
            </a:r>
            <a:pPr algn="l" indent="0" marL="0">
              <a:buNone/>
            </a:pPr>
            <a:r>
              <a:rPr lang="en-US" sz="2400" b="1" dirty="0">
                <a:solidFill>
                  <a:srgbClr val="222222"/>
                </a:solidFill>
              </a:rPr>
              <a:t>60세 이상이 10명 중 6명,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 마을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사람은 있는데 손이 부족</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2 · 관광·체류] </a:t>
            </a:r>
            <a:pPr algn="l" indent="0" marL="0">
              <a:buNone/>
            </a:pPr>
            <a:r>
              <a:rPr lang="en-US" sz="2400" b="1" dirty="0">
                <a:solidFill>
                  <a:srgbClr val="222222"/>
                </a:solidFill>
              </a:rPr>
              <a:t>사람은 오는데 머물지 않음 — 관광주민증 혜택 이용 1.2%</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와도 머물지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다시 오지 않음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 명(2025, 주민등록 인구의 8.6배)인데 관광주민증 9.9만 건 중 혜택 이용은 1,223건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군 관광택시는 정원 999명에 신청 35명 → 지원책이 있어도 쓰이지 않음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경북연구원 분류 '외부 유입은 많지만 재방문 전환이 제한적인 관광형 지역' → 밤 일정·재방문 장치가 필요</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에 오는 사람"/>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청도에 오는 사람</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2026.10.7(생활인구)·2026.5.26(관광주민증)·2026.9.22(신화랑풍류마을), 경북일보 2025.2.18(소싸움)</a:t>
            </a:r>
            <a:endParaRPr lang="en-US" sz="7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265176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34.4만 명 (주민등록의 8.6배)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발급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9.9만 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 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39만 명 (매출 304억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 5만 명 (개장 3년)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혜택 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1,223건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3 · 관광지 추이] </a:t>
            </a:r>
            <a:pPr algn="l" indent="0" marL="0">
              <a:buNone/>
            </a:pPr>
            <a:r>
              <a:rPr lang="en-US" sz="2400" b="1" dirty="0">
                <a:solidFill>
                  <a:srgbClr val="222222"/>
                </a:solidFill>
              </a:rPr>
              <a:t>대표 관광시설은 내리막 — 와인터널 방문객 4년 새 76% 감소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시설도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점점 덜 찾음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19만 명(2021) → 4.55만 명(2025), 레일바이크 18.9만 → 10.1만 명(-46%, 2025 적자 약 5,200만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반시축제 45만 명(2022) → 35만 명(2025) → 약 10만 명(2026, 언론 추정), 축제 때마다 교통난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소싸움장만 2024년 39만 명·매출 304억 원으로 늘었지만 동물학대 논란·폐지법안 발의(2025.11)</a:t>
            </a:r>
            <a:endParaRPr lang="en-US" sz="1250" dirty="0"/>
          </a:p>
        </p:txBody>
      </p:sp>
      <p:sp>
        <p:nvSpPr>
          <p:cNvPr id="5" name="panel bar 와인터널 방문객 (만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와인터널 방문객 (만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2026.9.4(청도군 의회 제출 자료 인용)</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관광지·축제 방문 추이"/>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관광지·축제 방문 추이</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 매일신문 2023.8.30, 헤럴드경제 2026.1.20, 글로벌이코노믹 2026.10.20, 경북일보 2025.2.18, 위키트리 2024.12.26</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371600"/>
                <a:gridCol w="2651760"/>
                <a:gridCol w="14630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추이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레일바이크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18.9만(2021) → 10.1만(2025)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건설비 128억, 적자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45만(2022) → 35만 → 약 10만(2026)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2026은 언론 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39만 명·304억 원(2024)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토·일만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하루 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1.25만 명, 오후 2~3시 최다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 1~3분기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방문객 매출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25.2%, 음식업 41.3%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카드 빅데이터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4 · 놀고 있는 장소] </a:t>
            </a:r>
            <a:pPr algn="l" indent="0" marL="0">
              <a:buNone/>
            </a:pPr>
            <a:r>
              <a:rPr lang="en-US" sz="2400" b="1" dirty="0">
                <a:solidFill>
                  <a:srgbClr val="222222"/>
                </a:solidFill>
              </a:rPr>
              <a:t>청도에만 있는 장소들이 평일·낮에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새로 짓지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장소를 다시 쓰기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 돔형 관람석 약 1만1천 석, 경기는 토·일만 → 일주일 중 5일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110년 된 옛 경부선 터널(1.01km)을 와인 15만 병 저장고로 바꾼 선례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319곳·군 농기계 785대·폐교 예정 금천고처럼 마을마다 거점과 장비도 있음</a:t>
            </a:r>
            <a:endParaRPr lang="en-US" sz="1250" dirty="0"/>
          </a:p>
        </p:txBody>
      </p:sp>
      <p:sp>
        <p:nvSpPr>
          <p:cNvPr id="5" name="panel bar 소싸움경기장 일주일 (일)"/>
          <p:cNvSpPr/>
          <p:nvPr/>
        </p:nvSpPr>
        <p:spPr>
          <a:xfrm>
            <a:off x="457200" y="2697480"/>
            <a:ext cx="42062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39867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소싸움경기장 일주일 (일)</a:t>
            </a:r>
            <a:endParaRPr lang="en-US" sz="1150" dirty="0"/>
          </a:p>
        </p:txBody>
      </p:sp>
      <p:sp>
        <p:nvSpPr>
          <p:cNvPr id="7" name="Text 5"/>
          <p:cNvSpPr txBox="1"/>
          <p:nvPr/>
        </p:nvSpPr>
        <p:spPr>
          <a:xfrm>
            <a:off x="457200" y="6035040"/>
            <a:ext cx="42062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2023.6.22(매주 토·일 하루 12경기)</a:t>
            </a:r>
            <a:endParaRPr lang="en-US" sz="750" dirty="0"/>
          </a:p>
        </p:txBody>
      </p:sp>
      <p:graphicFrame>
        <p:nvGraphicFramePr>
          <p:cNvPr id="8" name="Chart 0" descr=""/>
          <p:cNvGraphicFramePr/>
          <p:nvPr/>
        </p:nvGraphicFramePr>
        <p:xfrm>
          <a:off x="502920" y="3108960"/>
          <a:ext cx="411480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장소·시설 현황"/>
          <p:cNvSpPr/>
          <p:nvPr/>
        </p:nvSpPr>
        <p:spPr>
          <a:xfrm>
            <a:off x="4965192" y="2697480"/>
            <a:ext cx="6766560" cy="310896"/>
          </a:xfrm>
          <a:prstGeom prst="rect">
            <a:avLst/>
          </a:prstGeom>
          <a:solidFill>
            <a:srgbClr val="EEF1F6"/>
          </a:solidFill>
          <a:ln w="12700">
            <a:solidFill>
              <a:srgbClr val="EEF1F6"/>
            </a:solidFill>
            <a:prstDash val="solid"/>
          </a:ln>
        </p:spPr>
      </p:sp>
      <p:sp>
        <p:nvSpPr>
          <p:cNvPr id="10" name="Text 7"/>
          <p:cNvSpPr txBox="1"/>
          <p:nvPr/>
        </p:nvSpPr>
        <p:spPr>
          <a:xfrm>
            <a:off x="5074920" y="2697480"/>
            <a:ext cx="65471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장소·시설 현황</a:t>
            </a:r>
            <a:endParaRPr lang="en-US" sz="1150" dirty="0"/>
          </a:p>
        </p:txBody>
      </p:sp>
      <p:sp>
        <p:nvSpPr>
          <p:cNvPr id="11" name="Text 8"/>
          <p:cNvSpPr txBox="1"/>
          <p:nvPr/>
        </p:nvSpPr>
        <p:spPr>
          <a:xfrm>
            <a:off x="4965192" y="6035040"/>
            <a:ext cx="67665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2024.8.7, 한국관광공사, 경북매일 2026.9.22·2025.5.6·2026.10.20, 뉴스서울 2024.7.17</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965192" y="3090672"/>
          <a:ext cx="6766560" cy="914400"/>
        </p:xfrm>
        <a:graphic>
          <a:graphicData uri="http://schemas.openxmlformats.org/drawingml/2006/table">
            <a:tbl>
              <a:tblPr/>
              <a:tblGrid>
                <a:gridCol w="1463040"/>
                <a:gridCol w="1645920"/>
                <a:gridCol w="1828800"/>
                <a:gridCol w="18288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 쓰임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비는 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관람석 약 1만1천 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토·일 하루 12경기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월~금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길이 1.01km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남는 공간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숙박·체험 시설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3년 누적 5만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가동률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운영 지원 47억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 시간(추정)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농기계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62종 785대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 11,736건 임대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금천고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고교 1곳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2027.3 폐교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폐교 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5 · 농업·특산물] </a:t>
            </a:r>
            <a:pPr algn="l" indent="0" marL="0">
              <a:buNone/>
            </a:pPr>
            <a:r>
              <a:rPr lang="en-US" sz="2400" b="1" dirty="0">
                <a:solidFill>
                  <a:srgbClr val="222222"/>
                </a:solidFill>
              </a:rPr>
              <a:t>감·복숭아 농가 1만 곳, 감 조수입 1,032억 원</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특산물은 강한데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일손·판로가 약함</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감(반시) 5,589농가·1,541ha·28,143t·조수입 1,032억 원, 복숭아 4,781농가·12,327t·550억 원(2025)</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농식품 수출 6,392만 달러로 경북 군 단위 1위, 임가 3,853가구는 전국 최다</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2025년 반시 착과량 전년보다 약 30% 감소, 농번기 일손은 외국인 계절근로자 450명에 의존</a:t>
            </a:r>
            <a:endParaRPr lang="en-US" sz="1250" dirty="0"/>
          </a:p>
        </p:txBody>
      </p:sp>
      <p:sp>
        <p:nvSpPr>
          <p:cNvPr id="5" name="panel bar 품목별 농가 수 (곳)"/>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품목별 농가 수 (곳)</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경북일보 2026.3.20, 대구일보 2026.8.26</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농업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대구일보 2026.8.26·8.12, 경북매일 2026.9.29, 매일신문 2023.8.30</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1,032억 원 (28,143t)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복숭아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550억 원 (12,327t)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가공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생산량의 39.9%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한재미나리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490여 농가, 170여 ha</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98명, 귀촌 1,232명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6 · 사람·일손]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일손은 모자라고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거점은 비어 있음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7 · 돌봄·복지] </a:t>
            </a:r>
            <a:pPr algn="l" indent="0" marL="0">
              <a:buNone/>
            </a:pPr>
            <a:r>
              <a:rPr lang="en-US" sz="2400" b="1" dirty="0">
                <a:solidFill>
                  <a:srgbClr val="222222"/>
                </a:solidFill>
              </a:rPr>
              <a:t>통합돌봄 신청 3개월 새 2배, 군도 '농촌 이동지원'을 과제로 꼽음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돌봄 수요는 늘고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이동이 막힘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65세 이상 47.7%(2026.7), 치매 추정 유병률 10.18%(경북 평균 9.57%), 100세 이상 21명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노인일자리 2,262명·102억 원(2026), 통합돌봄 우선 관리대상 2,806명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통합돌봄 과제(군 발표): 교통이 불편한 농촌 이동지원 확대, 관내 의료기관 참여 부족</a:t>
            </a:r>
            <a:endParaRPr lang="en-US" sz="1250" dirty="0"/>
          </a:p>
        </p:txBody>
      </p:sp>
      <p:sp>
        <p:nvSpPr>
          <p:cNvPr id="5" name="panel bar 청도형 통합돌봄 신청자 (명)"/>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청도형 통합돌봄 신청자 (명)</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시사뉴스 2026.7.7, 매일신문 2026.10.7</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돌봄·복지 현황"/>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돌봄·복지 현황</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시사저널 2026.6.23, 경북일보 2026.10.11, 에너지경제 2026.2.24, 데일리대구경북 2026.6.22, 더파워 2026.6.22, 아주경제 2026.8.28</a:t>
            </a:r>
            <a:endParaRPr lang="en-US" sz="7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463040"/>
                <a:gridCol w="347472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2,262명, 102억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통합돌봄 제공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349건(방문진료 20건)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이동지원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29건 — 수요 대비 부족(군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7곳 → 연말 30곳+ (320곳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노인복지 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833억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치매 유병률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10.18% (약 1,940명 추산)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8 · 빈집·학교·출생] </a:t>
            </a:r>
            <a:pPr algn="l" indent="0" marL="0">
              <a:buNone/>
            </a:pPr>
            <a:r>
              <a:rPr lang="en-US" sz="2400" b="1" dirty="0">
                <a:solidFill>
                  <a:srgbClr val="222222"/>
                </a:solidFill>
              </a:rPr>
              <a:t>바로 쓸 빈집 151호, 올해 출생 50명·사망 347명</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비는 집·비는 교실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다시 쓸 공간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빈집 502호 중 1등급(활용 가능) 151호, 화양읍 다로리는 빈집 8동을 '마을호텔'로 바꾸는 중(21억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학교 30곳에 학생 2,527명(초 11곳 683명), 신입생 0명 초등학교 2곳, 금천고 2027.3 폐교</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1~7월 출생 50명·사망 347명, 전입 1,559명·전출 1,373명(순유입 +186명)</a:t>
            </a:r>
            <a:endParaRPr lang="en-US" sz="1250" dirty="0"/>
          </a:p>
        </p:txBody>
      </p:sp>
      <p:sp>
        <p:nvSpPr>
          <p:cNvPr id="5" name="panel bar 빈집 502호 등급 (호)"/>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빈집 502호 등급 (호)</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2024.11.20(한국부동산원 빈집실태조사), 공공데이터포털 청도군 빈집 현황</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학교·인구 이동"/>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학교·인구 이동</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청도교육지원청 일반현황(2026.9.1), 경북매일 2025.2.10·2026.10.20, 아주경제 2026.8.28, 농식품부 2025.4.1</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371600"/>
                <a:gridCol w="356616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학교·학생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30곳, 2,527명 (유치원 포함)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초·중·고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 683명 · 중 555명 · 고 1,206명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신입생 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초등학교 2곳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출생 / 사망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50명 / 347명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전입 / 전출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1,559명 / 1,373명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다로리 마을호텔 8동·서점·영화관, 21억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9 · 환경·재정] </a:t>
            </a:r>
            <a:pPr algn="l" indent="0" marL="0">
              <a:buNone/>
            </a:pPr>
            <a:r>
              <a:rPr lang="en-US" sz="2400" b="1" dirty="0">
                <a:solidFill>
                  <a:srgbClr val="222222"/>
                </a:solidFill>
              </a:rPr>
              <a:t>공모사업 3배, 재정자립도는 17.1%, 올여름 가뭄 '경계'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돈은 외부에서,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위기는 반복</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공모사업 확보 757억(2022) → 2,260억 원(2025), 그러나 재정자립도 17.1%, 지방소멸대응기금 2025년 집행률 57.2%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운문댐 용수 '경계' 단계, 강우 예년의 64%, 농업용 저수지 저수율 50.1%(2026.7)</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산불 46.8ha(2025.3), 무더위쉼터 249곳 — 재난 때 알림·대피 안내가 필요한 마을</a:t>
            </a:r>
            <a:endParaRPr lang="en-US" sz="1250" dirty="0"/>
          </a:p>
        </p:txBody>
      </p:sp>
      <p:sp>
        <p:nvSpPr>
          <p:cNvPr id="5" name="panel bar 공모사업 확보액 (억 원)"/>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공모사업 확보액 (억 원)</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브레이크뉴스·아시아경제 2026.1.12(청도군 발표)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재정·환경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재정·환경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경북일보 2024.10.3, 대구일보 2025.12.22, 콜뉴스24 2026.9.4, 헤럴드경제 2026.7.14, 경북매일 2026.8.3·7.31·6.8, 아주경제 2025.3.14</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재정자립도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17.1%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본예산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7,563억 원 (+21.8%)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160억 중 57.2% 집행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운문댐 저수율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27.3% (전년 63.7%)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산불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46.8ha, 헬기 27대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무더위쉼터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249곳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10 · 의료]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11 · 이동] </a:t>
            </a:r>
            <a:pPr algn="l" indent="0" marL="0">
              <a:buNone/>
            </a:pPr>
            <a:r>
              <a:rPr lang="en-US" sz="2400" b="1" dirty="0">
                <a:solidFill>
                  <a:srgbClr val="222222"/>
                </a:solidFill>
              </a:rPr>
              <a:t>정류장은 508곳, 어르신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1 · 관광·인구] </a:t>
            </a:r>
            <a:pPr algn="l" indent="0" marL="0">
              <a:buNone/>
            </a:pPr>
            <a:r>
              <a:rPr lang="en-US" sz="2400" b="1" dirty="0">
                <a:solidFill>
                  <a:srgbClr val="222222"/>
                </a:solidFill>
              </a:rPr>
              <a:t>군이 이미 하는 일 — 혜택은 만들었는데 쓰이지 않음</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하는 것의 빈틈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우리 앱의 자리</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관광주민증·반값여행·관광택시 지원이 따로 흩어져 있고, 신청 절차가 복잡해 이용이 낮음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시설·축제는 늘었지만 방문객은 줄거나(와인터널·레일바이크·반시축제) 논란(소싸움)이 있음</a:t>
            </a:r>
            <a:endParaRPr lang="en-US" sz="1250" dirty="0"/>
          </a:p>
        </p:txBody>
      </p:sp>
      <p:sp>
        <p:nvSpPr>
          <p:cNvPr id="5" name="panel bar 관광·인구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관광·인구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2026.5.26·2025.12.23, 세계일보 2026.3.5, 경북매일 2026.9.16, 뉴스스페이스 2026.1.19, 헤럴드경제 2026.1.18·2025.10.20, 메트로신문 2025.4.1, 콜뉴스24 2026.9.4</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디지털 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앱 QR로 참여업체 할인 (2025.6~)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9.9만 건, 참여업체 26곳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혜택 이용 1,223건(1.2%)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반값여행·숙박 세일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20만 원 이상 쓰면 10만 원 상품권, 숙박 2만 원 쿠폰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사전신청·SNS 게시·영수증 3단계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요금 50% 군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정원 999명 중 신청 35명(10.24)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소싸움(공영사업공사)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돔경기장 토·일 연 1,224경기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2024년 39만 명·304억 원, 세수 56.8억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출혈 부상 60%+, 폐지법안 발의(2025.11)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코미디페스티벌 동시 개최, 9경 3곳 방문 시 무료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 경북 우수축제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감소(추정), 축제 교통난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빈집재생(다로리)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 → 마을호텔 8동·서점·영화관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21억 원, 전국 3곳 선정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 완료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지방소멸대응기금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청려도원(청년·귀농 주거) 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2022년 이후 누적 472억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2025년 집행률 57.2%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2 · 농업·돌봄·의료] </a:t>
            </a:r>
            <a:pPr algn="l" indent="0" marL="0">
              <a:buNone/>
            </a:pPr>
            <a:r>
              <a:rPr lang="en-US" sz="2400" b="1" dirty="0">
                <a:solidFill>
                  <a:srgbClr val="222222"/>
                </a:solidFill>
              </a:rPr>
              <a:t>농업·돌봄 예산은 커졌지만 이동·의사소통·인력이 막힘</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스스로 꼽은 과제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앱이 풀 문제</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통합돌봄은 '농촌 이동지원 확대'를, 계절근로자는 '의사소통'을, 의료는 '공중보건의 감소'를 과제로 꼽음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농산물 유통은 153억 원을 넣지만 군 스스로 '온라인몰은 재구매 유도가 어렵다'고 진단</a:t>
            </a:r>
            <a:endParaRPr lang="en-US" sz="1250" dirty="0"/>
          </a:p>
        </p:txBody>
      </p:sp>
      <p:sp>
        <p:nvSpPr>
          <p:cNvPr id="5" name="panel bar 농업·돌봄·의료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농업·돌봄·의료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2026.10.14·10.7·10.8, 헤럴드경제 2026.1.12, 아주경제 2026.6.19, 시사뉴스 2026.7.7, 경북매일 2026.7.20, 더파워 2026.6.22, 매일신문 2024.3.20</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농산물 유통 강화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스마트 APC·포장·온라인몰 (2026~2030)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153.5억 원 투입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온라인몰 재구매 유도 어려움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외국인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카빈티시 협약, 언어 도우미, 기숙사 24억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84명 → 450명, 무단이탈 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의사소통·숙소가 계속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청년농·귀농귀촌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정착금, 원스톱센터, 농기계 임대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98·귀촌 1,232명(2025)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정착률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청도형 통합돌봄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가사·식사·이동·방문진료 연계 (2026~)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신청 139 → 302명, 9월 349건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농촌 이동지원 확대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의료취약지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보건지소 순회 진료, 대남병원 24시간 응급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응급실 연 8,000명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공중보건의 감소로 진료 공백 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전 경로당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7곳 → 연말 30곳+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비상벨은 쓰러진 뒤 누르는 방식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광역환승 편입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버스·철도 환승 (2024.12~)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단독 수치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주민 혜택 범위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   2. 예비 아이디어 1 · 지형지물   3. 예비 아이디어 2 · 주제 맞춤   4. 청도효도택시</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모두 대회 전 참고용 — 제출 코드는 당일 주제 공개 뒤 새 저장소에서 작성</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 · 지형지물] </a:t>
            </a:r>
            <a:pPr algn="l" indent="0" marL="0">
              <a:buNone/>
            </a:pPr>
            <a:r>
              <a:rPr lang="en-US" sz="2400" b="1" dirty="0">
                <a:solidFill>
                  <a:srgbClr val="222222"/>
                </a:solidFill>
              </a:rPr>
              <a:t>청도에만 있는 장소를 다시 쓰기 — 와인터널처럼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평일 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소싸움장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와인터널(옛 경부선 터널 → 와인 15만 병 저장)처럼, 청도에만 있는 장소가 '놀고 있는 자원'이면 심사에서 가장 강함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소싸움경기장은 토·일만 경기 → 월~금 5일 비어 있음, 돔형 관람석 약 1만1천 석</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추천: 평일 밤 소싸움장 드라이브인 극장 + 차박 → '와도 머물지 않는' 관광을 밤 일정으로 붙잡기(활용안 7건은 다음 쪽)</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대회장인 신화랑풍류마을도 소재 후보 — 심사위원 눈앞의 장소라 설명이 쉬움</a:t>
            </a:r>
            <a:endParaRPr lang="en-US" sz="1250" dirty="0"/>
          </a:p>
        </p:txBody>
      </p:sp>
      <p:sp>
        <p:nvSpPr>
          <p:cNvPr id="5" name="panel bar 청도 지형지물 × 놀고 있는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지형지물 × 놀고 있는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경북매일 2026.9.22(신화랑풍류마을)·2026.7.31(운문댐), 한국관광공사(와인터널)</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828800"/>
                <a:gridCol w="2194560"/>
                <a:gridCol w="2331720"/>
                <a:gridCol w="3291840"/>
                <a:gridCol w="1627632"/>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(2의 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110년 된 옛 경부선 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냉장 보관이 되네? (농가 저온 창고)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상설 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비는 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소싸움장에서 영화 보고 차박이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토·일 하루 12경기, 연 1,224경기 · 돔형 약 1만1천 석 · 2024 39만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숙박·스카이트레일·짚 롤러코스터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화랑마을에서 워케이션이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개장 3년 누적 5만 명(2026.9)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객실 수·평일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운문댐 (참고)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자원이 아닌 위기(가뭄)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물 절약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저수율 27.3%(2026.7.30, 전년 63.7%), 생수 1만 병 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주제와 거리 있음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1-1] </a:t>
            </a:r>
            <a:pPr algn="l" indent="0" marL="0">
              <a:buNone/>
            </a:pPr>
            <a:r>
              <a:rPr lang="en-US" sz="2400" b="1" dirty="0">
                <a:solidFill>
                  <a:srgbClr val="222222"/>
                </a:solidFill>
              </a:rPr>
              <a:t>소싸움경기장 평일 활용안 7건 — 약 1만1천 석이 월~금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1+2번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드라이브인 + 차박</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경기는 토·일만(하루 12경기, 연 1,224경기) → 평일 5일은 관람석·주차장·전광판이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1+2번: 평일 밤 영화·공연을 보고 그 자리에서 차박 → 관광주민증 이용 1.2%, '와도 머물지 않는' 문제를 겨냥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앱은 평일 밤 예약 + 주차 칸 배정 + 상영 일정 → 하루 안에 구현 가능한 크기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 평일 대관 규정, 전광판 상영·차량 진입 가능 여부, 방역 규정(2023 구제역으로 경기 중단)</a:t>
            </a:r>
            <a:endParaRPr lang="en-US" sz="1250" dirty="0"/>
          </a:p>
        </p:txBody>
      </p:sp>
      <p:sp>
        <p:nvSpPr>
          <p:cNvPr id="5" name="panel bar 평일 활용안 (위에서부터 추천 순)"/>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평일 활용안 (위에서부터 추천 순)</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서울신문 2023.5.15(구제역), 경북매일 2026.7.31(운문댐), 행안부·군 발표(고령 인구)</a:t>
            </a:r>
            <a:endParaRPr lang="en-US" sz="7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548640"/>
                <a:gridCol w="3017520"/>
                <a:gridCol w="4050792"/>
                <a:gridCol w="3657600"/>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활용안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평일 경기장으로 채우는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연결되는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드라이브인 극장·공연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비어 있는 저녁 경기장 전광판·관람석에서 영화·공연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 밤 일정으로 체류 늘리기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차박·캠핑카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빈 주차장을 캠핑카·차박 거점으로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신화랑풍류마을 오토캠핑 연계, 1번과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시니어 e스포츠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대항 게임 대회를 관람석·전광판에서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경로당 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직거래 장터·택배 출고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장터, 농가 택배 묶음 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예비 아이디어 2의 7번(싱그린 단골)과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실내 걷기·건강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통로를 평일 오전 걷기 코스로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합승 목적지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환승·합승 허브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넓은 주차장에서 면별 택시가 모이는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중간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폭염·한파·가뭄 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무더위 쉼터, 가뭄 때 생수 배부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운문댐 저수율 27.3%(2026.7.30)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1-2] </a:t>
            </a:r>
            <a:pPr algn="l" indent="0" marL="0">
              <a:buNone/>
            </a:pPr>
            <a:r>
              <a:rPr lang="en-US" sz="2400" b="1" dirty="0">
                <a:solidFill>
                  <a:srgbClr val="222222"/>
                </a:solidFill>
              </a:rPr>
              <a:t>'이 마을에 이걸?' — 장소별 아이템 × 프로그램 × 앱</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터널 → 와인창고처럼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장소를 뒤집기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모래판 시네마: 소싸움장에서 영화를? — 평일 밤 모래판 앞 드라이브인 + 차박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터널 속 내 칸: 110년 된 기차 터널에 내 와인을? — 1년 뒤 찾으러 와야 마실 수 있음 →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화랑 워케이션: 화랑마을에서 회사 일을? — 평일 근무 + 퇴근 후 체험, 대회장이라 설명이 쉬움</a:t>
            </a:r>
            <a:endParaRPr lang="en-US" sz="1250" dirty="0"/>
          </a:p>
        </p:txBody>
      </p:sp>
      <p:sp>
        <p:nvSpPr>
          <p:cNvPr id="5" name="panel bar 장소별 설계"/>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장소별 설계</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한국관광공사(와인터널), 경북매일 2026.9.22(신화랑풍류마을)·2026.5.26(관광주민증)</a:t>
            </a:r>
            <a:endParaRPr lang="en-US" sz="7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148840"/>
                <a:gridCol w="2057400"/>
                <a:gridCol w="2743200"/>
                <a:gridCol w="2697480"/>
                <a:gridCol w="1627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 · 이 마을에 이걸?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노리는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804672">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소싸움장 · 모래판 시네마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밤 전광판 영화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수: 시네마 + 감와인 페어링 / 금: 상영 후 차박 1박 / 방학: 낮 훈련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날짜 열기(관리자) · 주차·차박 칸 예약 · QR · 우천 자동 취소 · 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빈 1만1,845석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 터널 속 내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1병을 터널 '내 칸'에 맡김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맡길 때 이름표·사진 / 6개월 숙성 소식 / 12개월 '찾으러 오세요' + 숙박 할인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QR · 숙성 타임라인 · 재방문 예약 · 관광주민증 혜택 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재방문 부족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 화랑 워케이션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노트북 근무 + 퇴근 후 체험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3박 4일, 매일 18시 '화랑 퇴근' 체험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좌석·숙박 예약 · 체험 시간표 · 저녁 코스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숙박 가동(확인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1-3] </a:t>
            </a:r>
            <a:pPr algn="l" indent="0" marL="0">
              <a:buNone/>
            </a:pPr>
            <a:r>
              <a:rPr lang="en-US" sz="2400" b="1" dirty="0">
                <a:solidFill>
                  <a:srgbClr val="222222"/>
                </a:solidFill>
              </a:rPr>
              <a:t>세 장소를 앱 하나로 — '청도 밤마실'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낮에 왔다 가는 청도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밤까지 머물고 다시 오는 청도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34.4만인데 관광주민증 혜택 이용은 1.2% → '와도 머물지 않고, 다시 오지 않는' 문제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오후 화랑 → 저녁 터널 '내 칸' → 밤 모래판 시네마·차박 → 1년 뒤 와인 찾으러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이동은 관광택시·효도택시 합승 — 효도택시의 '접수 → 배정 → 알림' 엔진을 그대로 재사용</a:t>
            </a:r>
            <a:endParaRPr lang="en-US" sz="1250" dirty="0"/>
          </a:p>
        </p:txBody>
      </p:sp>
      <p:sp>
        <p:nvSpPr>
          <p:cNvPr id="5" name="panel bar 하루 코스와 앱 탭"/>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하루 코스와 앱 탭</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2026.10.7(생활인구)</a:t>
            </a:r>
            <a:endParaRPr lang="en-US" sz="7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005840"/>
                <a:gridCol w="3931920"/>
                <a:gridCol w="1371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코스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오후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 워케이션 또는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저녁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와인터널에서 '내 칸'에 와인 맡기기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모래판 시네마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모래판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1년 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찾으러 오세요' 알림 →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관광택시·효도택시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해커톤 데모 범위 /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해커톤 데모 범위 / 확인 필요</a:t>
            </a:r>
            <a:endParaRPr lang="en-US" sz="115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05840"/>
                <a:gridCol w="3657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웹 1개: 모래판·터널·택시 탭 + 관리자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재사용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접수·배정·알림 엔진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청도공영사업공사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와인터널 내부 온도·개인 보관 가능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신화랑풍류마을 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2 · 주제 맞춤] </a:t>
            </a:r>
            <a:pPr algn="l" indent="0" marL="0">
              <a:buNone/>
            </a:pPr>
            <a:r>
              <a:rPr lang="en-US" sz="2400" b="1" dirty="0">
                <a:solidFill>
                  <a:srgbClr val="222222"/>
                </a:solidFill>
              </a:rPr>
              <a:t>'청도에서 이게 되네?' 7건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+ 1~3번 우선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1번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2번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3번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 (행안부 외국인주민 현황, 경북매일·매일신문·아주경제·뉴스서울 보도)</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731520"/>
                <a:gridCol w="2514600"/>
                <a:gridCol w="2834640"/>
                <a:gridCol w="3200400"/>
                <a:gridCol w="199339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주민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1,680명,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단골 · 산지 정기배송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 → 재구매 고객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개별 농가 판매 한계(군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2024 대상(농산물)과 겹침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[청도효도택시 · 가안]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[청도효도택시 · 기능]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[청도효도택시 · 화면]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팀원 제안 검토(길찾기 앱)·버스 노선   3. 출처</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팀원 제안 '어르신 길찾기 앱' 검토 — 고를 버스보다 올 버스가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제안 내용</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(10/26 팀원 제안)</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목적지만 넣으면 탈 버스·내릴 곳·남은 시간을 큰 화면과 음성으로 알려 주는 '어르신용 네이버 길찾기'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이유: 네이버 길찾기는 어르신에게 복잡하고, 버스에서 '어디서 내려요?', '몇 번 타요?' 묻는 어르신이 많음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검토 결과: 방면마다 노선 1개라 고를 버스는 적고, 하루 몇 번뿐인 게 더 큰 문제 → 단독으론 약함</a:t>
            </a:r>
            <a:endParaRPr lang="en-US" sz="1250" dirty="0"/>
          </a:p>
        </p:txBody>
      </p:sp>
      <p:sp>
        <p:nvSpPr>
          <p:cNvPr id="5" name="panel bar 검토 근거 — 청도 버스 현황"/>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근거 — 청도 버스 현황</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주간경향 2026.4.27(국토부·통계청 인용), 경북매일 2021.7.4</a:t>
            </a:r>
            <a:endParaRPr lang="en-US" sz="7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651760"/>
                <a:gridCol w="5852160"/>
                <a:gridCol w="2770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포인트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출처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노선은 방면마다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6개 노선(0·1·2·3·5·7번)이 방면별로 나뉨 → 마을에서 탈 버스는 사실상 정해짐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부록 2-2 노선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노선마다 운행 횟수가 적음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7번: 덕암 방면 하루 7회, 남성현·숯골 방면 하루 5회, 버스 1대가 전부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 시간표)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주요 간선도 듬성듬성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1번(청도터미널–풍각): 하루 약 21회, 배차 15~60분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자체가 배차가 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경북 평균 배차간격 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국토부 대중교통 현황조사(2022)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 증가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걸어서 15분 안에 대중교통이 없는 마을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통계청 농림어업총조사(2020)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군도 버스가 안 닿는다고 인정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청도군이 대중교통 취약지역에 행복버스·행복택시 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2021.7.4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대부분이 어르신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외곽 면 평균 64세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행안부·군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노선은 6개지만 방면마다 1개 — 마을에서 고를 버스는 사실상 없음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 수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어르신의 선택지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출발해 방면별로 나뉨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 쪽은 3번, 풍각 쪽은 1번, 남성현 쪽은 7번처럼 사는 마을에 따라 탈 버스가 이미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그래서 문제는 '몇 번을 타나'보다 '그 버스가 언제 오나' — 7번은 방면별 하루 5~7회(부록 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 2~4시간 간격, 네이버·카카오 지도 실시간 조회 가능 여부는 공식 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가는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2026.5.26·2026.10.7(생활인구, 링크 재확인), 청도군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 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지형지물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2023.6.22·2024.8.7(소싸움장), 경북매일 2026.9.22(신화랑)·2026.7.31(운문댐)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신화랑풍류마을, 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관광공사(와인터널), 뉴스서울 2024.7.17, 경북매일 2026.10.20, 매일신문 2026.10.14(농산물)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농기계, 폐교, 판로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3-2] </a:t>
            </a:r>
            <a:pPr algn="l" indent="0" marL="0">
              <a:buNone/>
            </a:pPr>
            <a:r>
              <a:rPr lang="en-US" sz="2400" b="1" dirty="0">
                <a:solidFill>
                  <a:srgbClr val="222222"/>
                </a:solidFill>
              </a:rPr>
              <a:t>출처 — 추가 데이터·군 정책 (2026.10.28 조사)</a:t>
            </a:r>
            <a:endParaRPr lang="en-US" sz="24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7132320"/>
                <a:gridCol w="2953512"/>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페이지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콜뉴스24 2026.9.4(군 의회 제출 자료), 헤럴드경제 2026.1.20, 글로벌이코노믹 2026.10.20, 위키트리 2024.12.26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와인터널·레일바이크·축제·방문인구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뉴스스페이스 2026.1.19, 경북일보 2025.2.18, 매일신문 2024.8.7(관람석 1만1,845석 — 기사마다 다름)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규모·방문객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2026.10.1, 경북일보 2026.3.20, 대구일보 2026.8.26·8.12, 경북매일 2026.9.29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감·복숭아·미나리·수출·귀농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시사저널 2026.6.23, 경북일보 2026.10.11, 에너지경제 2026.2.24, 시사뉴스 2026.7.7, 더파워 2026.6.22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노인일자리·치매·통합돌봄·스마트경로당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2024.11.20·2026.8.28, 청도교육지원청(2026.9.1), 경북매일 2025.2.10, 농식품부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빈집·학교·출생·전입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경북일보 2024.10.3, 대구일보 2025.12.22, 브레이크뉴스 2026.1.12, 헤럴드경제 2026.7.14, 경북매일 2026.8.3·6.8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재정·공모사업·가뭄·쉼터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2026.5.26·9.16·2025.12.23, 세계일보 2026.3.5, 헤럴드경제 2026.1.18·2025.10.20, 메트로신문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관광주민증·반값여행·축제·빈집재생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2026.10.14·10.7·10.8, 아주경제 2026.6.19, 경북매일 2026.7.20, 매일신문 2024.3.20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유통·계절근로자·돌봄·의료·환승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2026-10-28T02:00:54Z</dcterms:created>
  <dcterms:modified xsi:type="dcterms:W3CDTF">2026-10-28T02:00:54Z</dcterms:modified>
</cp:coreProperties>
</file>