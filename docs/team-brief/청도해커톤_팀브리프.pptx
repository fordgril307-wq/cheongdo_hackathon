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6.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7.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3e71d37-c86c-3a89-8402-3638370123f4}">
          <p14:sldIdLst>
            <p14:sldId id="256"/>
          </p14:sldIdLst>
        </p14:section>
        <p14:section name="팀 운영" id="{19827a34-fb9c-12a1-a97a-756c2cda290a}">
          <p14:sldIdLst>
            <p14:sldId id="257"/>
            <p14:sldId id="258"/>
            <p14:sldId id="259"/>
            <p14:sldId id="260"/>
            <p14:sldId id="261"/>
            <p14:sldId id="262"/>
          </p14:sldIdLst>
        </p14:section>
        <p14:section name="청도 데이터" id="{e2a63ad5-c4ec-9577-69d9-15e521e48b9c}">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아이디어" id="{b6567fbf-319e-fd08-5414-64ca42a98874}">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Lst>
        </p14:section>
        <p14:section name="부록" id="{193f5a09-a647-67da-6ac8-bdae3dbb8aef}">
          <p14:sldIdLst>
            <p14:sldId id="305"/>
            <p14:sldId id="306"/>
            <p14:sldId id="307"/>
            <p14:sldId id="308"/>
            <p14:sldId id="309"/>
            <p14:sldId id="310"/>
          </p14:sldIdLst>
        </p14:section>
        <p14:section name="마무리" id="{7764b83f-cd14-2101-12a2-17f88ca0762f}">
          <p14:sldIdLst>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세금 개최 반대</c:v>
                  </c:pt>
                  <c:pt idx="1">
                    <c:v>동물학대 인식</c:v>
                  </c:pt>
                  <c:pt idx="2">
                    <c:v>사행성 우려(70%+)</c:v>
                  </c:pt>
                  <c:pt idx="3">
                    <c:v>아동 관람 반대</c:v>
                  </c:pt>
                </c:lvl>
              </c:multiLvlStrCache>
            </c:multiLvlStrRef>
          </c:cat>
          <c:val>
            <c:numRef>
              <c:f>Sheet1!$B$2:$B$5</c:f>
              <c:numCache>
                <c:formatCode>General</c:formatCode>
                <c:ptCount val="4"/>
                <c:pt idx="0">
                  <c:v>76</c:v>
                </c:pt>
                <c:pt idx="1">
                  <c:v>70</c:v>
                </c:pt>
                <c:pt idx="2">
                  <c:v>70</c:v>
                </c:pt>
                <c:pt idx="3">
                  <c:v>62.1</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가격</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10월 3일</c:v>
                  </c:pt>
                  <c:pt idx="1">
                    <c:v>10월 12일</c:v>
                  </c:pt>
                </c:lvl>
              </c:multiLvlStrCache>
            </c:multiLvlStrRef>
          </c:cat>
          <c:val>
            <c:numRef>
              <c:f>Sheet1!$B$2:$B$3</c:f>
              <c:numCache>
                <c:formatCode>General</c:formatCode>
                <c:ptCount val="2"/>
                <c:pt idx="0">
                  <c:v>16563</c:v>
                </c:pt>
                <c:pt idx="1">
                  <c:v>12849</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900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세금 개최 반대</c:v>
                  </c:pt>
                  <c:pt idx="1">
                    <c:v>동물학대 인식</c:v>
                  </c:pt>
                  <c:pt idx="2">
                    <c:v>사행성 우려(70%+)</c:v>
                  </c:pt>
                  <c:pt idx="3">
                    <c:v>아동 관람 반대</c:v>
                  </c:pt>
                </c:lvl>
              </c:multiLvlStrCache>
            </c:multiLvlStrRef>
          </c:cat>
          <c:val>
            <c:numRef>
              <c:f>Sheet1!$B$2:$B$5</c:f>
              <c:numCache>
                <c:formatCode>General</c:formatCode>
                <c:ptCount val="4"/>
                <c:pt idx="0">
                  <c:v>76</c:v>
                </c:pt>
                <c:pt idx="1">
                  <c:v>70</c:v>
                </c:pt>
                <c:pt idx="2">
                  <c:v>70</c:v>
                </c:pt>
                <c:pt idx="3">
                  <c:v>62.1</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 여론입니다. 창원 조사에서 세금으로 소싸움을 여는 데 76%가 반대했고, 동남권 조사에서는 70% 넘게 사행성을 걱정했습니다. 국회에는 폐지법안이 발의됐고, 농식품부는 올해 1월 청도공영사업공사 실태조사를 발표했습니다. 소싸움은 줄어드는 방향인데, 돔 경기장은 남습니다. 평일에 다른 쓰임을 미리 만들어 두자는 근거입니다. 6곳 예산 미편성은 동물보호단체 주장이고, 청도 상설 경기는 계속 열리고 있어 표현에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반시는 출하가 몰리면서 9일 만에 가격이 22% 떨어졌고, 작은 감 비중도 평년보다 높습니다. 그래서 군이 작은 감 500톤을 사들여 저장하고 있습니다. 출하 시기를 나눌 저장 공간이 곧 가격이라는 뜻입니다. 일손 부족도 계속됩니다.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 기반입니다. 여름마다 고지대 단수가 반복되고, 전국적으로 농촌 마을 네 곳 중 세 곳은 마을 안에 식료품점이 없습니다. 청도의 소멸위험지수는 0.1 안팎으로 고위험이지만, 다녀가는 생활인구는 주민의 7.8배로 경북 1위입니다.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1은 청도 시네마 투어입니다. 청도 관광지는 방문객이 줄고, 군이 만든 관광 혜택은 1.2%만 씁니다. 영화 쪽은 영화제 지원이 절반으로 줄어 작은 영화제가 상영할 곳을 못 찾습니다. 토요일과 일요일만 쓰는 소싸움장 돔과 옛 터미널인 상상마루, 옛 기차 터널인 와인터널을 평일 영화제 무대로 쓰고, AI가 상영과 이동, 숙소를 한 코스로 묶어 예약합니다. 반나절 청도와 밤 코스 자료를 여기로 합쳤습니다.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 여론입니다. 창원 조사에서 세금으로 소싸움을 여는 데 76%가 반대했고, 동남권 조사에서는 70% 넘게 사행성을 걱정했습니다. 국회에는 폐지법안이 발의됐고, 농식품부는 올해 1월 청도공영사업공사 실태조사를 발표했습니다. 소싸움은 줄어드는 방향인데, 돔 경기장은 남습니다. 평일에 다른 쓰임을 미리 만들어 두자는 근거입니다. 6곳 예산 미편성은 동물보호단체 주장이고, 청도 상설 경기는 계속 열리고 있어 표현에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소싸움장 입지입니다. 와인터널까지 7분, 다로리까지 5분, 청도역과 상상마루까지 11분으로 읍내와 관광지 사이 한가운데 있습니다. 숙소인 신화랑풍류마을은 37분으로 멀어서 합승 택시로 묶습니다. 군은 이미 다로리 빈집 8호를 마을호텔로, 2호를 마을 서점과 영화관으로 바꾸는 사업을 2027년까지 하고 있고, 2027년에는 영상미디어센터도 엽니다. 우리는 그 전에 있는 시설로 먼저 운영하고, 완공되면 예약 엔진에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일반적인 영화제는 상영, 이벤트, 마켓, 시상 네 축입니다. 작은 영화제는 마켓과 레드카펫을 빼고 관객과의 대화와 교류에 집중합니다. 청도판은 본상영과 GV를 소싸움장에서, 단편과 마스터클래스는 상상마루에서, 교류는 와인터널 감와인으로, 마켓 대신 특산물 장터를 엽니다. 시상은 관객 투표로 모래판 관객상을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코스는 누가 오느냐에 따라 네 가지입니다. 대구 직장인은 퇴근 후 당일 코스, 영화를 좋아하는 두 사람은 1박 코스로 상상마루, 와인터널, 소싸움장, 신화랑, 다음 날 운문사까지 갑니다. 영화인은 포럼과 GV, 운문사 아침 일정이 붙고, 2027년부터는 다로리 마을호텔과 마을영화관으로 상설 코스가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빈자리 엔진입니다. 평일에 비는 경기장 좌석, 상상마루 홀, 터널 칸, 숙소, 택시 좌석을 모아 관객 일정에 맞게 AI가 묶습니다. 반나절 청도의 감 따기는 낮 체험 칸으로 붙일 수 있고, 효도택시 합승 엔진은 이동 칸으로 씁니다. 데모 화면은 말로 일정, 시네마 좌석, 예약 완료, 1년 뒤 알림입니다.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3.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환경·생활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4-2 · 소싸움 여론·정부] </a:t>
            </a:r>
            <a:pPr algn="l" indent="0" marL="0">
              <a:buNone/>
            </a:pPr>
            <a:r>
              <a:rPr lang="en-US" sz="2400" b="1" dirty="0">
                <a:solidFill>
                  <a:srgbClr val="222222"/>
                </a:solidFill>
              </a:rPr>
              <a:t>세금 개최 반대 76%, 정부는 실태조사 착수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소싸움은 줄어드는 방향,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경기장은 남는다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여론: 세금으로 여는 소싸움 반대 76%(창원 500명, 2026.4), 사행성 우려 70%+·아동 관람 반대 62.1%(동남권 1,000명, 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정부: 폐지법률안 발의(2025.11) → 농식품부가 청도공영사업공사 실태조사·싸움소 전수조사·협의체 구성 발표(2026.1)</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전국: 고시상 개최 가능 지자체 11곳 중 6곳이 대회 지원예산 미편성(단체 주장) · 청도 상설 경기는 2026.1.24 재개장, 연 1,224경기</a:t>
            </a:r>
            <a:endParaRPr lang="en-US" sz="1250" dirty="0"/>
          </a:p>
        </p:txBody>
      </p:sp>
      <p:sp>
        <p:nvSpPr>
          <p:cNvPr id="5" name="panel bar 여론조사 (%)"/>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여론조사 (%)</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비건뉴스 2026.5.2(동물자유연대·엠브레인퍼블릭, 창원 500명), 코리아중앙데일리 2025.6.26(동남권 1,000명)</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정부·국회 조치와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정부·국회 조치와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2026.1.18, 프레시안 2026.1.20, 세계일보 2026.5.28, 인사이트 2026.10.7, 비건뉴스 2026.5.2, 경북일보 2025.2.18</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143000"/>
                <a:gridCol w="4572000"/>
                <a:gridCol w="1051560"/>
              </a:tblGrid>
              <a:tr h="35661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국회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「전통소싸움경기에 관한 법률」 폐지법률안 발의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2025.11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농식품부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청도공영사업공사 실태조사 · 싸움소 전수조사 · 동물보호법 적용 · 협의체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개최 가능 11곳 중 6곳 대회 예산 미편성(청도·달성 포함, 단체 주장)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경기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1,224경기, 군 보조금 매년 50억~60억 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실적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39만 명 · 매출 304억 · 세수 56.8억</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싸움소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말소 453두 중 71% 도축, 경기 중 출혈 부상 60%+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2022~25</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 폐지 국민동의청원 5만 명+</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5-2 · 농업 위기] </a:t>
            </a:r>
            <a:pPr algn="l" indent="0" marL="0">
              <a:buNone/>
            </a:pPr>
            <a:r>
              <a:rPr lang="en-US" sz="2400" b="1" dirty="0">
                <a:solidFill>
                  <a:srgbClr val="222222"/>
                </a:solidFill>
              </a:rPr>
              <a:t>반시 값 9일 만에 22% 하락, 군이 작은 감 500톤 사들여 저장</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출하가 한꺼번에 몰리면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값이 떨어짐</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가락시장 떫은감 5kg 16,563원 → 12,849원(2026.10.3~12, -22.4%), 출하량은 18%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작은 감(소과) 비중 45~50%로 평년(35~40%)보다 높음 → 군이 소과 500톤을 사들여 저장(11/6까지)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일손은 여전히 부족: 농번기 지원 연인원 3만 명, 하반기 계절근로자 79농가 316명 추가 입국</a:t>
            </a:r>
            <a:endParaRPr lang="en-US" sz="1250" dirty="0"/>
          </a:p>
        </p:txBody>
      </p:sp>
      <p:sp>
        <p:nvSpPr>
          <p:cNvPr id="5" name="panel bar 떫은감 5kg 가락시장 가격 (원)"/>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떫은감 5kg 가락시장 가격 (원)</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위기 지표"/>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위기 지표</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 아주경제 2026.10.29, 경북매일 2025.4.28, 매일신문 2026.10.6, 경북매일 2025.12.3</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017520"/>
                <a:gridCol w="1280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 가격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-22.4% (9일 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작은 감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45~50% (평년 35~40%)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소과 수매·저장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500t · 20kg 1만3,500원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연인원 3만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2025.5~7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하반기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79농가 316명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농가 65세+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59.2% (농가 10년 -11.8%)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9-2 · 생활·인구] </a:t>
            </a:r>
            <a:pPr algn="l" indent="0" marL="0">
              <a:buNone/>
            </a:pPr>
            <a:r>
              <a:rPr lang="en-US" sz="2400" b="1" dirty="0">
                <a:solidFill>
                  <a:srgbClr val="222222"/>
                </a:solidFill>
              </a:rPr>
              <a:t>여름마다 단수, 소멸위험지수 0.1 — 생활 기반이 흔들림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물·장보기·사람이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모두 모자람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 여름 풍각·각남 고지대 약 2,400가구 단수, 2026년 8월 각북 전체·풍각·이서 일부 약 8시간 계획 단수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[전국] 농촌 행정리 73.5%가 마을 안에 식료품점이 없음 → 장보기도 읍까지 나가야 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소멸위험지수 0.097~0.11(고위험), 합계출산율 0.87, 인구 10여 년 전 약 4.7만 → 약 4만</a:t>
            </a:r>
            <a:endParaRPr lang="en-US" sz="1250" dirty="0"/>
          </a:p>
        </p:txBody>
      </p:sp>
      <p:sp>
        <p:nvSpPr>
          <p:cNvPr id="5" name="panel bar 생활 기반"/>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생활 기반</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YTN 2026.8.2, 연합뉴스 2026.7.31, 뉴시스 2025.1.1(2020 농림어업총조사)</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920240"/>
                <a:gridCol w="24688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고지대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2,400가구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계획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3개 면 · 약 8시간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2026.8.2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정수장 용량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운문정수장 하루 최대 2만1천t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 식료품점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행정리의 73.5%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인구 소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인구 소멸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이코노미스트 2025.7.14, 메트로신문 2025.9.2, 에너지경제 2025.9.17, 국민일보 2025.9.1</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소멸위험지수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0.097~0.11 (고위험)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합계출산율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0.87명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4.7만 → 약 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10여 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34만 (주민등록 7.8배, 경북 1위)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1분기 254만 명 (+6.4%)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10-2 · 의료 인력·안전]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1~3   3. 가안 1 청도 시네마 투어 · 가안 2 청도효도택시</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 시네마 투어 (가안 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일정 · 시네마 좌석 · 예약 완료 QR · 1년 뒤 알림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묶기 · 자리 추천 · 합승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시네마 투어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비는 소싸움장 돔이 영화관이 되고, 옛 터미널·옛 기차 터널이 영화제 무대가 됨</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새로 짓지 않고 있던 곳의 빈 시간을 AI가 코스로 묶음 · 반나절 청도·밤 코스 자료 통합 · 2026.10.30 HS 확정</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관광지는 비고, 영화는 상영할 곳이 없다 — 평일 소싸움장이 둘 다 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영화제가 되네?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 와인터널 방문 -76%(언론 보도)·레일바이크 -46%, 군 관광 혜택은 만들었지만 이용 1.2% → 사람은 와도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영화: 영화제 지원 56억→28억·40곳→20곳(2024), 대한극장 폐관(2024) → 작은 영화제는 상영할 곳이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해법: 토·일만 쓰는 돔 1만1천 석 + 상상마루(옛 터미널) + 와인터널(옛 기차 터널)을 평일 영화제 무대로, AI가 상영·이동·숙소를 한 코스로 예약</a:t>
            </a:r>
            <a:endParaRPr lang="en-US" sz="1250" dirty="0"/>
          </a:p>
        </p:txBody>
      </p:sp>
      <p:sp>
        <p:nvSpPr>
          <p:cNvPr id="5" name="panel bar 세 가지 문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세 가지 문제</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경북매일 2026.5.26, 대구MBC 2023.12.2, 보그 2024.5.1, 헤럴드경제 2026.1.18</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관광지 감소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와인터널 19만 → 4.55만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2021→2025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혜택 미사용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9.9만 중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영화제 지원 40곳 → 20곳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 축소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폐지법안 발의 · 정부 실태조사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 약 1만1천 석, 월~금 비어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놀고 있는 자원 → 영화제의 쓰임"/>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영화제의 쓰임</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 경북매일 2026.5.28, 한국관광공사, 메트로신문 2025.4.1</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194560"/>
                <a:gridCol w="18288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영화제에서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토·일만 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본상영·GV·시상식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옛 버스터미널, 2026.5 개장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마스터클래스·포럼·단편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옛 경부선 터널, 방문 감소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파티·'내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한옥·캠핑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숙박·네트워킹 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다로리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마을호텔 8동·마을영화관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상설 숙소·소상영관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근거①]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근거②]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근거③] </a:t>
            </a:r>
            <a:pPr algn="l" indent="0" marL="0">
              <a:buNone/>
            </a:pPr>
            <a:r>
              <a:rPr lang="en-US" sz="2400" b="1" dirty="0">
                <a:solidFill>
                  <a:srgbClr val="222222"/>
                </a:solidFill>
              </a:rPr>
              <a:t>세금 개최 반대 76%, 정부는 실태조사 착수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소싸움은 줄어드는 방향,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경기장은 남는다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여론: 세금으로 여는 소싸움 반대 76%(창원 500명, 2026.4), 사행성 우려 70%+·아동 관람 반대 62.1%(동남권 1,000명, 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정부: 폐지법률안 발의(2025.11) → 농식품부가 청도공영사업공사 실태조사·싸움소 전수조사·협의체 구성 발표(2026.1)</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전국: 고시상 개최 가능 지자체 11곳 중 6곳이 대회 지원예산 미편성(단체 주장) · 청도 상설 경기는 2026.1.24 재개장, 연 1,224경기</a:t>
            </a:r>
            <a:endParaRPr lang="en-US" sz="1250" dirty="0"/>
          </a:p>
        </p:txBody>
      </p:sp>
      <p:sp>
        <p:nvSpPr>
          <p:cNvPr id="5" name="panel bar 여론조사 (%)"/>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여론조사 (%)</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비건뉴스 2026.5.2(동물자유연대·엠브레인퍼블릭, 창원 500명), 코리아중앙데일리 2025.6.26(동남권 1,000명)</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정부·국회 조치와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정부·국회 조치와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2026.1.18, 프레시안 2026.1.20, 세계일보 2026.5.28, 인사이트 2026.10.7, 비건뉴스 2026.5.2, 경북일보 2025.2.18</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143000"/>
                <a:gridCol w="4572000"/>
                <a:gridCol w="1051560"/>
              </a:tblGrid>
              <a:tr h="35661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국회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「전통소싸움경기에 관한 법률」 폐지법률안 발의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2025.11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농식품부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청도공영사업공사 실태조사 · 싸움소 전수조사 · 동물보호법 적용 · 협의체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개최 가능 11곳 중 6곳 대회 예산 미편성(청도·달성 포함, 단체 주장)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경기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1,224경기, 군 보조금 매년 50억~60억 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실적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39만 명 · 매출 304억 · 세수 56.8억</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싸움소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말소 453두 중 71% 도축, 경기 중 출혈 부상 60%+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2022~25</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 폐지 국민동의청원 5만 명+</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입지와 2027 계획] </a:t>
            </a:r>
            <a:pPr algn="l" indent="0" marL="0">
              <a:buNone/>
            </a:pPr>
            <a:r>
              <a:rPr lang="en-US" sz="2400" b="1" dirty="0">
                <a:solidFill>
                  <a:srgbClr val="222222"/>
                </a:solidFill>
              </a:rPr>
              <a:t>와인터널 7분·청도역 11분, 2027 마을영화관 5분</a:t>
            </a:r>
            <a:endParaRPr lang="en-US" sz="2400" dirty="0"/>
          </a:p>
        </p:txBody>
      </p:sp>
      <p:pic>
        <p:nvPicPr>
          <p:cNvPr id="3" name="Image 0" descr="/tmp/claude-0/-home-claude/9fe24995-61ac-5ef1-afdf-127265839e0e/scratchpad/map/locmap.png">    </p:cNvPr>
          <p:cNvPicPr>
            <a:picLocks noChangeAspect="1"/>
          </p:cNvPicPr>
          <p:nvPr/>
        </p:nvPicPr>
        <p:blipFill>
          <a:blip r:embed="rId1"/>
          <a:stretch>
            <a:fillRect/>
          </a:stretch>
        </p:blipFill>
        <p:spPr>
          <a:xfrm>
            <a:off x="457200" y="1097280"/>
            <a:ext cx="6675120" cy="3364992"/>
          </a:xfrm>
          <a:prstGeom prst="rect">
            <a:avLst/>
          </a:prstGeom>
        </p:spPr>
      </p:pic>
      <p:sp>
        <p:nvSpPr>
          <p:cNvPr id="4" name="Text 1"/>
          <p:cNvSpPr txBox="1"/>
          <p:nvPr/>
        </p:nvSpPr>
        <p:spPr>
          <a:xfrm>
            <a:off x="457200" y="4498848"/>
            <a:ext cx="6675120" cy="27432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현황」(2025.8.28)·한국관광공사 좌표, 통계청 행정경계(2013). 상상마루는 청도역 인근 근사 위치</a:t>
            </a:r>
            <a:endParaRPr lang="en-US" sz="750" dirty="0"/>
          </a:p>
        </p:txBody>
      </p:sp>
      <p:sp>
        <p:nvSpPr>
          <p:cNvPr id="5" name="panel bar 입지 요약"/>
          <p:cNvSpPr/>
          <p:nvPr/>
        </p:nvSpPr>
        <p:spPr>
          <a:xfrm>
            <a:off x="457200" y="4800600"/>
            <a:ext cx="6675120" cy="310896"/>
          </a:xfrm>
          <a:prstGeom prst="rect">
            <a:avLst/>
          </a:prstGeom>
          <a:solidFill>
            <a:srgbClr val="EEF1F6"/>
          </a:solidFill>
          <a:ln w="12700">
            <a:solidFill>
              <a:srgbClr val="EEF1F6"/>
            </a:solidFill>
            <a:prstDash val="solid"/>
          </a:ln>
        </p:spPr>
      </p:sp>
      <p:sp>
        <p:nvSpPr>
          <p:cNvPr id="6" name="Text 3"/>
          <p:cNvSpPr txBox="1"/>
          <p:nvPr/>
        </p:nvSpPr>
        <p:spPr>
          <a:xfrm>
            <a:off x="566928" y="480060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입지 요약</a:t>
            </a:r>
            <a:endParaRPr lang="en-US" sz="1150" dirty="0"/>
          </a:p>
        </p:txBody>
      </p:sp>
      <p:sp>
        <p:nvSpPr>
          <p:cNvPr id="7" name="Text 4"/>
          <p:cNvSpPr txBox="1"/>
          <p:nvPr/>
        </p:nvSpPr>
        <p:spPr>
          <a:xfrm>
            <a:off x="548640" y="5148072"/>
            <a:ext cx="6492240" cy="82296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2222"/>
                </a:solidFill>
                <a:latin typeface="Pretendard" pitchFamily="34" charset="0"/>
                <a:ea typeface="Pretendard" pitchFamily="34" charset="-122"/>
                <a:cs typeface="Pretendard" pitchFamily="34" charset="-120"/>
              </a:rPr>
              <a:t>읍내(청도역·상상마루)와 와인터널·다로리 사이 한가운데 → 상영 전후 이동 10분 안팎</a:t>
            </a:r>
            <a:endParaRPr lang="en-US" sz="1050" dirty="0"/>
          </a:p>
          <a:p>
            <a:pPr marL="342900" indent="-342900">
              <a:spcAft>
                <a:spcPts val="300"/>
              </a:spcAft>
              <a:buSzPct val="100000"/>
              <a:buChar char="•"/>
            </a:pPr>
            <a:r>
              <a:rPr lang="en-US" sz="1050" dirty="0">
                <a:solidFill>
                  <a:srgbClr val="222222"/>
                </a:solidFill>
                <a:latin typeface="Pretendard" pitchFamily="34" charset="0"/>
                <a:ea typeface="Pretendard" pitchFamily="34" charset="-122"/>
                <a:cs typeface="Pretendard" pitchFamily="34" charset="-120"/>
              </a:rPr>
              <a:t>숙박은 동쪽 신화랑(37분)이 멀어 합승 택시로 묶음, 2027년부터는 다로리 마을호텔(5분)로 대체 가능</a:t>
            </a:r>
            <a:endParaRPr lang="en-US" sz="1050" dirty="0"/>
          </a:p>
        </p:txBody>
      </p:sp>
      <p:sp>
        <p:nvSpPr>
          <p:cNvPr id="8" name="panel bar 이미 정해진 2027 계획 (군·정부)"/>
          <p:cNvSpPr/>
          <p:nvPr/>
        </p:nvSpPr>
        <p:spPr>
          <a:xfrm>
            <a:off x="7434072" y="1097280"/>
            <a:ext cx="4297680" cy="310896"/>
          </a:xfrm>
          <a:prstGeom prst="rect">
            <a:avLst/>
          </a:prstGeom>
          <a:solidFill>
            <a:srgbClr val="EEF1F6"/>
          </a:solidFill>
          <a:ln w="12700">
            <a:solidFill>
              <a:srgbClr val="EEF1F6"/>
            </a:solidFill>
            <a:prstDash val="solid"/>
          </a:ln>
        </p:spPr>
      </p:sp>
      <p:sp>
        <p:nvSpPr>
          <p:cNvPr id="9" name="Text 6"/>
          <p:cNvSpPr txBox="1"/>
          <p:nvPr/>
        </p:nvSpPr>
        <p:spPr>
          <a:xfrm>
            <a:off x="7543800" y="10972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이미 정해진 2027 계획 (군·정부)</a:t>
            </a:r>
            <a:endParaRPr lang="en-US" sz="1150" dirty="0"/>
          </a:p>
        </p:txBody>
      </p:sp>
      <p:sp>
        <p:nvSpPr>
          <p:cNvPr id="10" name="Text 7"/>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메트로신문 2025.4.1·브레이크뉴스(다로리 빈집재생), 경북매일 2026.9.30(2027 신규사업), 아주경제 2024.12.11(생활혁신센터)</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434072" y="1490472"/>
          <a:ext cx="4297680" cy="914400"/>
        </p:xfrm>
        <a:graphic>
          <a:graphicData uri="http://schemas.openxmlformats.org/drawingml/2006/table">
            <a:tbl>
              <a:tblPr/>
              <a:tblGrid>
                <a:gridCol w="1097280"/>
                <a:gridCol w="2194560"/>
                <a:gridCol w="1005840"/>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6868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다로리 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8호 → 체류형 마을호텔, 2호 → 마을 서점·영화관 등, 21억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영상미디어센터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영상미디어센터 개관 (2027 신규사업 목록)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생활혁신센터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 영상미디어센터 등 입주 4층 건물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2026.12 완공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운문사 권역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운문사 권역 관광산업 활성화 (2027 신규사업)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686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우리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완공 전엔 소싸움장·상상마루로 먼저 운영, 완공 후 예약 엔진에 그대로 추가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영화제 프로그램] </a:t>
            </a:r>
            <a:pPr algn="l" indent="0" marL="0">
              <a:buNone/>
            </a:pPr>
            <a:r>
              <a:rPr lang="en-US" sz="2400" b="1" dirty="0">
                <a:solidFill>
                  <a:srgbClr val="222222"/>
                </a:solidFill>
              </a:rPr>
              <a:t>상영 · 이벤트 · 마켓 · 시상 — 장소마다 하나씩 맡김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작은 영화제 공식:</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마켓은 빼고 GV·교류에 집중</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영화제는 상영·이벤트(GV·마스터클래스·포럼)·마켓·시상 네 축 — 작은 영화제는 마켓·레드카펫을 빼고 GV와 교류에 집중</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청도판: 마켓 대신 '감와인·특산물 장터', 레드카펫 대신 '모래판 관객상'</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 예: '지방에 극장이 사라질 때' — 대한극장 폐관·유천극장(1967) 이야기를 회고전으로</a:t>
            </a:r>
            <a:endParaRPr lang="en-US" sz="1250" dirty="0"/>
          </a:p>
        </p:txBody>
      </p:sp>
      <p:sp>
        <p:nvSpPr>
          <p:cNvPr id="5" name="panel bar 축 × 장소 (⚠️ = 운영사·군 협의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축 × 장소 (⚠️ = 운영사·군 협의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영화제 구성 일반론, 매일신문 2026.7.8(유천극장), 경북매일 2026.5.28(상상마루)</a:t>
            </a:r>
            <a:endParaRPr lang="en-US" sz="7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097280"/>
                <a:gridCol w="3657600"/>
                <a:gridCol w="2194560"/>
                <a:gridCol w="1280160"/>
                <a:gridCol w="3044952"/>
              </a:tblGrid>
              <a:tr h="3200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언제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004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개막·폐막작, 본상영(평일 밤 대형 스크린)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모래판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화~금 19:00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일부 구역 개방 ⚠️</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단편·경쟁 부문, 지역 독립영화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다목적홀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수십~100석 ⚠️</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회고전 '사라진 극장들'(2027~ 상설)</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마을영화관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소규모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이벤트</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GV(관객과의 대화)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상영 직후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 관객 전체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이벤트</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마스터클래스·포럼 '지역 상영 공간'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예약제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네트워킹 · '내 칸'에 와인 맡기기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민간 운영사 협의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마켓 대신</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감와인·반시·특산물 장터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 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농가·업체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시상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관객 투표 '모래판 관객상'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마지막 날</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투표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코스] </a:t>
            </a:r>
            <a:pPr algn="l" indent="0" marL="0">
              <a:buNone/>
            </a:pPr>
            <a:r>
              <a:rPr lang="en-US" sz="2400" b="1" dirty="0">
                <a:solidFill>
                  <a:srgbClr val="222222"/>
                </a:solidFill>
              </a:rPr>
              <a:t>누가 오느냐에 따라 4가지 — 당일·1박·영화인·2027 상설</a:t>
            </a:r>
            <a:endParaRPr lang="en-US" sz="2400" dirty="0"/>
          </a:p>
        </p:txBody>
      </p:sp>
      <p:pic>
        <p:nvPicPr>
          <p:cNvPr id="3" name="Image 0" descr="/tmp/claude-0/-home-claude/9fe24995-61ac-5ef1-afdf-127265839e0e/scratchpad/map/course.png">    </p:cNvPr>
          <p:cNvPicPr>
            <a:picLocks noChangeAspect="1"/>
          </p:cNvPicPr>
          <p:nvPr/>
        </p:nvPicPr>
        <p:blipFill>
          <a:blip r:embed="rId1"/>
          <a:stretch>
            <a:fillRect/>
          </a:stretch>
        </p:blipFill>
        <p:spPr>
          <a:xfrm>
            <a:off x="457200" y="1051560"/>
            <a:ext cx="5120640" cy="2496312"/>
          </a:xfrm>
          <a:prstGeom prst="rect">
            <a:avLst/>
          </a:prstGeom>
        </p:spPr>
      </p:pic>
      <p:sp>
        <p:nvSpPr>
          <p:cNvPr id="4" name="Text 1"/>
          <p:cNvSpPr txBox="1"/>
          <p:nvPr/>
        </p:nvSpPr>
        <p:spPr>
          <a:xfrm>
            <a:off x="457200" y="3566160"/>
            <a:ext cx="5120640" cy="22860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1박 코스 B 경로 · 이동 시간은 직선×1.35·시속 40km 추정</a:t>
            </a:r>
            <a:endParaRPr lang="en-US" sz="750" dirty="0"/>
          </a:p>
        </p:txBody>
      </p:sp>
      <p:sp>
        <p:nvSpPr>
          <p:cNvPr id="5" name="panel bar 코스 B · 1박 '시네마 스테이' (예시 시간표)"/>
          <p:cNvSpPr/>
          <p:nvPr/>
        </p:nvSpPr>
        <p:spPr>
          <a:xfrm>
            <a:off x="5852160" y="1051560"/>
            <a:ext cx="5879592" cy="310896"/>
          </a:xfrm>
          <a:prstGeom prst="rect">
            <a:avLst/>
          </a:prstGeom>
          <a:solidFill>
            <a:srgbClr val="EEF1F6"/>
          </a:solidFill>
          <a:ln w="12700">
            <a:solidFill>
              <a:srgbClr val="EEF1F6"/>
            </a:solidFill>
            <a:prstDash val="solid"/>
          </a:ln>
        </p:spPr>
      </p:sp>
      <p:sp>
        <p:nvSpPr>
          <p:cNvPr id="6" name="Text 3"/>
          <p:cNvSpPr txBox="1"/>
          <p:nvPr/>
        </p:nvSpPr>
        <p:spPr>
          <a:xfrm>
            <a:off x="5961888" y="1051560"/>
            <a:ext cx="566013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코스 B · 1박 '시네마 스테이' (예시 시간표)</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822960"/>
                <a:gridCol w="2331720"/>
                <a:gridCol w="2724912"/>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15:00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① 청도역 → 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짐 보관 · 마스터클래스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17:00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② 와인터널 (17분)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네트워킹 · '내 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③ 소싸움장 (7분)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 → 21:00 GV</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21:40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④ 신화랑풍류마을 (합승 37분)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 · 야간 교류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다음 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⑤ 운문사 (12분) → 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아침 산책 → 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케이스별 코스"/>
          <p:cNvSpPr/>
          <p:nvPr/>
        </p:nvSpPr>
        <p:spPr>
          <a:xfrm>
            <a:off x="457200" y="3931920"/>
            <a:ext cx="11274552" cy="310896"/>
          </a:xfrm>
          <a:prstGeom prst="rect">
            <a:avLst/>
          </a:prstGeom>
          <a:solidFill>
            <a:srgbClr val="EEF1F6"/>
          </a:solidFill>
          <a:ln w="12700">
            <a:solidFill>
              <a:srgbClr val="EEF1F6"/>
            </a:solidFill>
            <a:prstDash val="solid"/>
          </a:ln>
        </p:spPr>
      </p:sp>
      <p:sp>
        <p:nvSpPr>
          <p:cNvPr id="9" name="Text 5"/>
          <p:cNvSpPr txBox="1"/>
          <p:nvPr/>
        </p:nvSpPr>
        <p:spPr>
          <a:xfrm>
            <a:off x="566928" y="393192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케이스별 코스</a:t>
            </a:r>
            <a:endParaRPr lang="en-US" sz="1150" dirty="0"/>
          </a:p>
        </p:txBody>
      </p:sp>
      <p:sp>
        <p:nvSpPr>
          <p:cNvPr id="10" name="Text 6"/>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청도역 열차는 하루 약 20회(⚠️ 비공식) — 막차 시간 확인 필요</a:t>
            </a:r>
            <a:endParaRPr lang="en-US" sz="750" dirty="0"/>
          </a:p>
        </p:txBody>
      </p:sp>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920240"/>
                <a:gridCol w="1554480"/>
                <a:gridCol w="4206240"/>
                <a:gridCol w="1554480"/>
                <a:gridCol w="203911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누구</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동선</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묶는 것</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 당일 '퇴근 시네마'</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직장인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청도역 17:30 → 와인터널 → 소싸움장 상영·GV → 청도역</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막차 맞춘 상영 회차·합승 택시</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B 1박 '시네마 스테이'</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영화 좋아하는 2인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 와인터널 → 소싸움장 → 신화랑 → 운문사</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한옥·캠핑</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숙소 빈방·심야 합승</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C 영화인·게스트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감독·배우·심사위원</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포럼 → 소싸움장 GV → 운문사 아침 → 시상식</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2박</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GV 일정·픽업</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D 2027~ 상설</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주말 관광객</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상영 → 다로리 마을영화관 심야 → 마을호텔</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상영관 2곳 회차 연결</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빈자리 엔진과 화면] </a:t>
            </a:r>
            <a:pPr algn="l" indent="0" marL="0">
              <a:buNone/>
            </a:pPr>
            <a:r>
              <a:rPr lang="en-US" sz="2400" b="1" dirty="0">
                <a:solidFill>
                  <a:srgbClr val="222222"/>
                </a:solidFill>
              </a:rPr>
              <a:t>상영 좌석·터널 칸·숙소·택시 빈자리를 AI가 한 장으로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자리(경기장 좌석·상상마루 홀·터널 칸·숙소·택시 좌석)를 모아 관객 일정에 맞게 AI가 묶어 예약</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퇴근하고 둘이, 차 없어요" 한마디 → 상영 회차·이동·숙소까지 한 번에 (반나절 청도의 감 따기는 '낮 체험' 칸으로 선택 추가)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 합승 엔진을 '이동' 칸으로 재사용 — 영화 끝난 밤 같은 방향 관객끼리 한 차로</a:t>
            </a:r>
            <a:endParaRPr lang="en-US" sz="1250" dirty="0"/>
          </a:p>
        </p:txBody>
      </p:sp>
      <p:sp>
        <p:nvSpPr>
          <p:cNvPr id="5" name="panel bar 엔진이 채우는 빈자리"/>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 콜뉴스24 2026.9.4, 한국관광공사, 경북매일 2026.5.26</a:t>
            </a:r>
            <a:endParaRPr lang="en-US" sz="7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463040"/>
                <a:gridCol w="246888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월~금 빈 돔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 좌석 (간판)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 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2026.5 개장 다목적홀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마스터클래스·단편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교류·1년 뒤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한옥·캠핑 43면 → 2027 다로리 8동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999명 중 35명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심야 합승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농가 일손 (선택)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체험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데모 화면 (화면 시안 캔버스 '최종안')"/>
          <p:cNvSpPr/>
          <p:nvPr/>
        </p:nvSpPr>
        <p:spPr>
          <a:xfrm>
            <a:off x="6519672" y="2697480"/>
            <a:ext cx="5212080" cy="310896"/>
          </a:xfrm>
          <a:prstGeom prst="rect">
            <a:avLst/>
          </a:prstGeom>
          <a:solidFill>
            <a:srgbClr val="EEF1F6"/>
          </a:solidFill>
          <a:ln w="12700">
            <a:solidFill>
              <a:srgbClr val="EEF1F6"/>
            </a:solidFill>
            <a:prstDash val="solid"/>
          </a:ln>
        </p:spPr>
      </p:sp>
      <p:sp>
        <p:nvSpPr>
          <p:cNvPr id="10" name="Text 7"/>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데모 화면 (화면 시안 캔버스 '최종안')</a:t>
            </a:r>
            <a:endParaRPr lang="en-US" sz="1150" dirty="0"/>
          </a:p>
        </p:txBody>
      </p:sp>
      <p:sp>
        <p:nvSpPr>
          <p:cNvPr id="11" name="Text 8"/>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청도의 빈자리 화면 시안 캔버스</a:t>
            </a:r>
            <a:endParaRPr lang="en-US" sz="750" dirty="0"/>
          </a:p>
        </p:txBody>
      </p:sp>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38404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주는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 말로 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퇴근하고 둘이" → 조건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① 시네마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구역 좌석, 상영작·GV 정보, AI 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한 장으로 택시·터널·시네마·숙소 4곳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1년 뒤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숙성 → 다음 영화제 날짜와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좌석 채움률·재방문·비 예보 조정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조건(JSON)으로 정리하고, 상영표·빈자리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 합승·반나절 청도 매칭 코드를 재사용 → 새로 짤 부분은 상영표·좌석 선택·관객상 투표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소싸움장 평일 대관·상영 허가, 와인터널 협의, 상상마루 대관, 청도역 막차</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기상청·한국관광공사 API</a:t>
            </a:r>
            <a:endParaRPr lang="en-US" sz="7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휴대폰 웹: 일정·좌석·예약·알림 + 운영자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/plan · /screenings · /inventory · /book · /vote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코스 구성·자리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상영표, 좌석 구역, 터널 칸,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 예보 시 야외 일정 대체, 주변 식당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 감소·상영 공간 부족·소싸움 축소를 숫자로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묶기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 → 좌석·예약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좌석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2026-10-30T08:04:38Z</dcterms:created>
  <dcterms:modified xsi:type="dcterms:W3CDTF">2026-10-30T08:04:38Z</dcterms:modified>
</cp:coreProperties>
</file>